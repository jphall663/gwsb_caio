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Lst>
  <p:notesMasterIdLst>
    <p:notesMasterId r:id="rId32"/>
  </p:notesMasterIdLst>
  <p:handoutMasterIdLst>
    <p:handoutMasterId r:id="rId33"/>
  </p:handoutMasterIdLst>
  <p:sldIdLst>
    <p:sldId id="364" r:id="rId3"/>
    <p:sldId id="348" r:id="rId4"/>
    <p:sldId id="1048" r:id="rId5"/>
    <p:sldId id="1001" r:id="rId6"/>
    <p:sldId id="1070" r:id="rId7"/>
    <p:sldId id="1000" r:id="rId8"/>
    <p:sldId id="804" r:id="rId9"/>
    <p:sldId id="906" r:id="rId10"/>
    <p:sldId id="1003" r:id="rId11"/>
    <p:sldId id="1005" r:id="rId12"/>
    <p:sldId id="1047" r:id="rId13"/>
    <p:sldId id="1071" r:id="rId14"/>
    <p:sldId id="1069" r:id="rId15"/>
    <p:sldId id="1049" r:id="rId16"/>
    <p:sldId id="1039" r:id="rId17"/>
    <p:sldId id="1050" r:id="rId18"/>
    <p:sldId id="1051" r:id="rId19"/>
    <p:sldId id="1054" r:id="rId20"/>
    <p:sldId id="1053" r:id="rId21"/>
    <p:sldId id="1055" r:id="rId22"/>
    <p:sldId id="1052" r:id="rId23"/>
    <p:sldId id="1004" r:id="rId24"/>
    <p:sldId id="1072" r:id="rId25"/>
    <p:sldId id="1078" r:id="rId26"/>
    <p:sldId id="1076" r:id="rId27"/>
    <p:sldId id="1075" r:id="rId28"/>
    <p:sldId id="1077" r:id="rId29"/>
    <p:sldId id="1074" r:id="rId30"/>
    <p:sldId id="1079"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8CB"/>
    <a:srgbClr val="008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535"/>
    <p:restoredTop sz="72254" autoAdjust="0"/>
  </p:normalViewPr>
  <p:slideViewPr>
    <p:cSldViewPr>
      <p:cViewPr varScale="1">
        <p:scale>
          <a:sx n="81" d="100"/>
          <a:sy n="81" d="100"/>
        </p:scale>
        <p:origin x="1544" y="18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111" d="100"/>
          <a:sy n="111" d="100"/>
        </p:scale>
        <p:origin x="180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2AE3FDB-6945-4347-8BC3-2CED33470DDD}" type="datetimeFigureOut">
              <a:rPr lang="en-US" smtClean="0"/>
              <a:t>9/25/26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DEEB63E-888C-8C42-B541-D4F93944647B}" type="slidenum">
              <a:rPr lang="en-US" smtClean="0"/>
              <a:t>‹#›</a:t>
            </a:fld>
            <a:endParaRPr lang="en-US"/>
          </a:p>
        </p:txBody>
      </p:sp>
    </p:spTree>
    <p:extLst>
      <p:ext uri="{BB962C8B-B14F-4D97-AF65-F5344CB8AC3E}">
        <p14:creationId xmlns:p14="http://schemas.microsoft.com/office/powerpoint/2010/main" val="6739710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179477D5-7247-724F-9C31-3A47DE62E811}" type="datetimeFigureOut">
              <a:rPr lang="en-US"/>
              <a:pPr>
                <a:defRPr/>
              </a:pPr>
              <a:t>9/25/26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140683D-76B9-6F41-9742-5C642E76ACFD}" type="slidenum">
              <a:rPr lang="en-US"/>
              <a:pPr>
                <a:defRPr/>
              </a:pPr>
              <a:t>‹#›</a:t>
            </a:fld>
            <a:endParaRPr lang="en-US"/>
          </a:p>
        </p:txBody>
      </p:sp>
    </p:spTree>
    <p:extLst>
      <p:ext uri="{BB962C8B-B14F-4D97-AF65-F5344CB8AC3E}">
        <p14:creationId xmlns:p14="http://schemas.microsoft.com/office/powerpoint/2010/main" val="357604089"/>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fontAlgn="base">
      <a:spcBef>
        <a:spcPct val="30000"/>
      </a:spcBef>
      <a:spcAft>
        <a:spcPct val="0"/>
      </a:spcAft>
      <a:defRPr sz="1200" kern="1200">
        <a:solidFill>
          <a:schemeClr val="tx1"/>
        </a:solidFill>
        <a:latin typeface="+mn-lt"/>
        <a:ea typeface="ＭＳ Ｐゴシック" charset="0"/>
        <a:cs typeface="+mn-cs"/>
      </a:defRPr>
    </a:lvl2pPr>
    <a:lvl3pPr marL="914400" algn="l" rtl="0" fontAlgn="base">
      <a:spcBef>
        <a:spcPct val="30000"/>
      </a:spcBef>
      <a:spcAft>
        <a:spcPct val="0"/>
      </a:spcAft>
      <a:defRPr sz="1200" kern="1200">
        <a:solidFill>
          <a:schemeClr val="tx1"/>
        </a:solidFill>
        <a:latin typeface="+mn-lt"/>
        <a:ea typeface="ＭＳ Ｐゴシック" charset="0"/>
        <a:cs typeface="+mn-cs"/>
      </a:defRPr>
    </a:lvl3pPr>
    <a:lvl4pPr marL="1371600" algn="l" rtl="0" fontAlgn="base">
      <a:spcBef>
        <a:spcPct val="30000"/>
      </a:spcBef>
      <a:spcAft>
        <a:spcPct val="0"/>
      </a:spcAft>
      <a:defRPr sz="1200" kern="1200">
        <a:solidFill>
          <a:schemeClr val="tx1"/>
        </a:solidFill>
        <a:latin typeface="+mn-lt"/>
        <a:ea typeface="ＭＳ Ｐゴシック" charset="0"/>
        <a:cs typeface="+mn-cs"/>
      </a:defRPr>
    </a:lvl4pPr>
    <a:lvl5pPr marL="1828800" algn="l" rtl="0" fontAlgn="base">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140683D-76B9-6F41-9742-5C642E76ACFD}" type="slidenum">
              <a:rPr lang="en-US" smtClean="0"/>
              <a:pPr>
                <a:defRPr/>
              </a:pPr>
              <a:t>1</a:t>
            </a:fld>
            <a:endParaRPr lang="en-US"/>
          </a:p>
        </p:txBody>
      </p:sp>
    </p:spTree>
    <p:extLst>
      <p:ext uri="{BB962C8B-B14F-4D97-AF65-F5344CB8AC3E}">
        <p14:creationId xmlns:p14="http://schemas.microsoft.com/office/powerpoint/2010/main" val="3826895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err="1"/>
              <a:t>Blackbook</a:t>
            </a:r>
            <a:r>
              <a:rPr lang="en-US" dirty="0"/>
              <a:t> 12.45-1.05 (really need MORE discussion time here but trying more time on BOA)</a:t>
            </a:r>
          </a:p>
          <a:p>
            <a:r>
              <a:rPr lang="en-US" dirty="0"/>
              <a:t>Board Build and share 1.05 – 2</a:t>
            </a:r>
          </a:p>
          <a:p>
            <a:r>
              <a:rPr lang="en-US" dirty="0"/>
              <a:t>Break (possible Liz </a:t>
            </a:r>
            <a:r>
              <a:rPr lang="en-US" dirty="0" err="1"/>
              <a:t>annc</a:t>
            </a:r>
            <a:r>
              <a:rPr lang="en-US" dirty="0"/>
              <a:t>)</a:t>
            </a:r>
          </a:p>
          <a:p>
            <a:r>
              <a:rPr lang="en-US" dirty="0"/>
              <a:t>2.15 Book Clubs</a:t>
            </a:r>
          </a:p>
          <a:p>
            <a:r>
              <a:rPr lang="en-US" dirty="0"/>
              <a:t>3 – Team time</a:t>
            </a:r>
          </a:p>
          <a:p>
            <a:endParaRPr lang="en-US" dirty="0"/>
          </a:p>
          <a:p>
            <a:r>
              <a:rPr lang="en-US" dirty="0"/>
              <a:t>OLD</a:t>
            </a:r>
          </a:p>
          <a:p>
            <a:r>
              <a:rPr lang="en-US" dirty="0" err="1"/>
              <a:t>Annc</a:t>
            </a:r>
            <a:r>
              <a:rPr lang="en-US" dirty="0"/>
              <a:t> – book club / consolidated plan</a:t>
            </a:r>
          </a:p>
          <a:p>
            <a:r>
              <a:rPr lang="en-US" dirty="0"/>
              <a:t>Leadership Playbook walk through (or next time) – due 3/20 along with mentorship playbook</a:t>
            </a:r>
          </a:p>
          <a:p>
            <a:r>
              <a:rPr lang="en-US" dirty="0"/>
              <a:t>Bingo</a:t>
            </a:r>
          </a:p>
          <a:p>
            <a:r>
              <a:rPr lang="en-US" dirty="0"/>
              <a:t>Team Time</a:t>
            </a:r>
          </a:p>
          <a:p>
            <a:r>
              <a:rPr lang="en-US" dirty="0"/>
              <a:t>Kiki</a:t>
            </a:r>
          </a:p>
          <a:p>
            <a:endParaRPr lang="en-US" dirty="0"/>
          </a:p>
          <a:p>
            <a:r>
              <a:rPr lang="en-US" dirty="0"/>
              <a:t>Future – work plan (from week 2) and LABS turned in</a:t>
            </a:r>
          </a:p>
          <a:p>
            <a:endParaRPr lang="en-US" dirty="0"/>
          </a:p>
          <a:p>
            <a:r>
              <a:rPr lang="en-US" dirty="0"/>
              <a:t>KKF note: Book club </a:t>
            </a:r>
          </a:p>
          <a:p>
            <a:r>
              <a:rPr lang="en-US" sz="1800" b="0" i="0" u="none" strike="noStrike" dirty="0">
                <a:solidFill>
                  <a:srgbClr val="000000"/>
                </a:solidFill>
                <a:effectLst/>
                <a:latin typeface="Arial" panose="020B0604020202020204" pitchFamily="34" charset="0"/>
              </a:rPr>
              <a:t>In the future can decide if we want to give people a </a:t>
            </a:r>
            <a:r>
              <a:rPr lang="en-US" sz="1800" b="0" i="0" u="none" strike="noStrike" dirty="0" err="1">
                <a:solidFill>
                  <a:srgbClr val="000000"/>
                </a:solidFill>
                <a:effectLst/>
                <a:latin typeface="Arial" panose="020B0604020202020204" pitchFamily="34" charset="0"/>
              </a:rPr>
              <a:t>choce</a:t>
            </a:r>
            <a:r>
              <a:rPr lang="en-US" sz="1800" b="0" i="0" u="none" strike="noStrike" dirty="0">
                <a:solidFill>
                  <a:srgbClr val="000000"/>
                </a:solidFill>
                <a:effectLst/>
                <a:latin typeface="Arial" panose="020B0604020202020204" pitchFamily="34" charset="0"/>
              </a:rPr>
              <a:t> - b/c a lot chose a date near R2 deadline</a:t>
            </a:r>
            <a:endParaRPr lang="en-US" dirty="0"/>
          </a:p>
        </p:txBody>
      </p:sp>
      <p:sp>
        <p:nvSpPr>
          <p:cNvPr id="4" name="Slide Number Placeholder 3"/>
          <p:cNvSpPr>
            <a:spLocks noGrp="1"/>
          </p:cNvSpPr>
          <p:nvPr>
            <p:ph type="sldNum" sz="quarter" idx="10"/>
          </p:nvPr>
        </p:nvSpPr>
        <p:spPr/>
        <p:txBody>
          <a:bodyPr/>
          <a:lstStyle/>
          <a:p>
            <a:fld id="{8CDF8DD4-3383-4D62-ACD9-85A0D4978AA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4174F-8ED3-E1D5-F7AF-C69228243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37B9C-AB25-5B04-4103-F314F67F2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350C7-DC21-E4AC-4ADB-196C70099BA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7BC11A6-B653-1DD0-C556-4A18DB2E5305}"/>
              </a:ext>
            </a:extLst>
          </p:cNvPr>
          <p:cNvSpPr>
            <a:spLocks noGrp="1"/>
          </p:cNvSpPr>
          <p:nvPr>
            <p:ph type="sldNum" sz="quarter" idx="10"/>
          </p:nvPr>
        </p:nvSpPr>
        <p:spPr/>
        <p:txBody>
          <a:bodyPr/>
          <a:lstStyle/>
          <a:p>
            <a:fld id="{8CDF8DD4-3383-4D62-ACD9-85A0D4978AAA}" type="slidenum">
              <a:rPr lang="en-US" smtClean="0"/>
              <a:pPr/>
              <a:t>4</a:t>
            </a:fld>
            <a:endParaRPr lang="en-US"/>
          </a:p>
        </p:txBody>
      </p:sp>
    </p:spTree>
    <p:extLst>
      <p:ext uri="{BB962C8B-B14F-4D97-AF65-F5344CB8AC3E}">
        <p14:creationId xmlns:p14="http://schemas.microsoft.com/office/powerpoint/2010/main" val="2224997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1E464-7B11-086B-3F82-C08F94B47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F85F3-2573-8357-1A7B-77166BE89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FBA52-C8B0-AC2F-408C-47E7CCFEF66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AE88EC9-D411-1022-C5E2-B563B8ADC676}"/>
              </a:ext>
            </a:extLst>
          </p:cNvPr>
          <p:cNvSpPr>
            <a:spLocks noGrp="1"/>
          </p:cNvSpPr>
          <p:nvPr>
            <p:ph type="sldNum" sz="quarter" idx="10"/>
          </p:nvPr>
        </p:nvSpPr>
        <p:spPr/>
        <p:txBody>
          <a:bodyPr/>
          <a:lstStyle/>
          <a:p>
            <a:fld id="{8CDF8DD4-3383-4D62-ACD9-85A0D4978AAA}" type="slidenum">
              <a:rPr lang="en-US" smtClean="0"/>
              <a:pPr/>
              <a:t>5</a:t>
            </a:fld>
            <a:endParaRPr lang="en-US"/>
          </a:p>
        </p:txBody>
      </p:sp>
    </p:spTree>
    <p:extLst>
      <p:ext uri="{BB962C8B-B14F-4D97-AF65-F5344CB8AC3E}">
        <p14:creationId xmlns:p14="http://schemas.microsoft.com/office/powerpoint/2010/main" val="2314939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957D0-6FC4-969E-09D7-F1B12D9E7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F8147-BA6F-169E-52A3-B1BA99E63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3A90F-447E-1CB2-0BF4-62DDEE0D034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C903C15-4D60-EDD4-51E2-4A1F7E54B1C5}"/>
              </a:ext>
            </a:extLst>
          </p:cNvPr>
          <p:cNvSpPr>
            <a:spLocks noGrp="1"/>
          </p:cNvSpPr>
          <p:nvPr>
            <p:ph type="sldNum" sz="quarter" idx="10"/>
          </p:nvPr>
        </p:nvSpPr>
        <p:spPr/>
        <p:txBody>
          <a:bodyPr/>
          <a:lstStyle/>
          <a:p>
            <a:fld id="{8CDF8DD4-3383-4D62-ACD9-85A0D4978AAA}" type="slidenum">
              <a:rPr lang="en-US" smtClean="0"/>
              <a:pPr/>
              <a:t>6</a:t>
            </a:fld>
            <a:endParaRPr lang="en-US"/>
          </a:p>
        </p:txBody>
      </p:sp>
    </p:spTree>
    <p:extLst>
      <p:ext uri="{BB962C8B-B14F-4D97-AF65-F5344CB8AC3E}">
        <p14:creationId xmlns:p14="http://schemas.microsoft.com/office/powerpoint/2010/main" val="90448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In this second of three lessons for the future entrepreneur, we will delve into the steps and considerations involved with turning an idea into a business. </a:t>
            </a:r>
          </a:p>
          <a:p>
            <a:pPr lvl="0"/>
            <a:endParaRPr lang="en-US" dirty="0"/>
          </a:p>
          <a:p>
            <a:pPr lvl="0"/>
            <a:r>
              <a:rPr lang="en-US" dirty="0"/>
              <a:t>You have a passion or a hobby, can this be a business? You have an idea – there is a need for a product or service – but you need to know more about your market before you go into business.  Last, of what risks should you be aware? These are all topics that will be covered during this learning module</a:t>
            </a:r>
            <a:r>
              <a:rPr lang="en-US" b="1" dirty="0"/>
              <a:t>.</a:t>
            </a:r>
            <a:endParaRPr lang="en-US" dirty="0"/>
          </a:p>
          <a:p>
            <a:endParaRPr lang="en-US" dirty="0"/>
          </a:p>
        </p:txBody>
      </p:sp>
      <p:sp>
        <p:nvSpPr>
          <p:cNvPr id="4" name="Slide Number Placeholder 3"/>
          <p:cNvSpPr>
            <a:spLocks noGrp="1"/>
          </p:cNvSpPr>
          <p:nvPr>
            <p:ph type="sldNum" sz="quarter" idx="10"/>
          </p:nvPr>
        </p:nvSpPr>
        <p:spPr/>
        <p:txBody>
          <a:bodyPr/>
          <a:lstStyle/>
          <a:p>
            <a:fld id="{8CDF8DD4-3383-4D62-ACD9-85A0D4978AAA}" type="slidenum">
              <a:rPr lang="en-US" smtClean="0"/>
              <a:pPr/>
              <a:t>8</a:t>
            </a:fld>
            <a:endParaRPr lang="en-US"/>
          </a:p>
        </p:txBody>
      </p:sp>
    </p:spTree>
    <p:extLst>
      <p:ext uri="{BB962C8B-B14F-4D97-AF65-F5344CB8AC3E}">
        <p14:creationId xmlns:p14="http://schemas.microsoft.com/office/powerpoint/2010/main" val="233495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BF29-0EA4-29A8-0DB4-AF02E9AEC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D4670-C86D-6BE8-BACA-B99B91815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5DCA6-4BC5-22C7-2E56-A204F18EE10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67834D8-321C-AA68-57D9-62DEC6FF715D}"/>
              </a:ext>
            </a:extLst>
          </p:cNvPr>
          <p:cNvSpPr>
            <a:spLocks noGrp="1"/>
          </p:cNvSpPr>
          <p:nvPr>
            <p:ph type="sldNum" sz="quarter" idx="10"/>
          </p:nvPr>
        </p:nvSpPr>
        <p:spPr/>
        <p:txBody>
          <a:bodyPr/>
          <a:lstStyle/>
          <a:p>
            <a:fld id="{8CDF8DD4-3383-4D62-ACD9-85A0D4978AAA}" type="slidenum">
              <a:rPr lang="en-US" smtClean="0"/>
              <a:pPr/>
              <a:t>9</a:t>
            </a:fld>
            <a:endParaRPr lang="en-US"/>
          </a:p>
        </p:txBody>
      </p:sp>
    </p:spTree>
    <p:extLst>
      <p:ext uri="{BB962C8B-B14F-4D97-AF65-F5344CB8AC3E}">
        <p14:creationId xmlns:p14="http://schemas.microsoft.com/office/powerpoint/2010/main" val="292902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0369-83A6-C665-1662-131B51B4B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3DB84-981B-4F83-2664-318B593D3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DB6C89-D6F8-4B9E-F4A8-3994536E8EF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9BBAB25-1A7F-12FA-18EB-CEDD01279224}"/>
              </a:ext>
            </a:extLst>
          </p:cNvPr>
          <p:cNvSpPr>
            <a:spLocks noGrp="1"/>
          </p:cNvSpPr>
          <p:nvPr>
            <p:ph type="sldNum" sz="quarter" idx="10"/>
          </p:nvPr>
        </p:nvSpPr>
        <p:spPr/>
        <p:txBody>
          <a:bodyPr/>
          <a:lstStyle/>
          <a:p>
            <a:fld id="{8CDF8DD4-3383-4D62-ACD9-85A0D4978AAA}" type="slidenum">
              <a:rPr lang="en-US" smtClean="0"/>
              <a:pPr/>
              <a:t>10</a:t>
            </a:fld>
            <a:endParaRPr lang="en-US"/>
          </a:p>
        </p:txBody>
      </p:sp>
    </p:spTree>
    <p:extLst>
      <p:ext uri="{BB962C8B-B14F-4D97-AF65-F5344CB8AC3E}">
        <p14:creationId xmlns:p14="http://schemas.microsoft.com/office/powerpoint/2010/main" val="1247162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140683D-76B9-6F41-9742-5C642E76ACFD}" type="slidenum">
              <a:rPr lang="en-US" smtClean="0"/>
              <a:pPr>
                <a:defRPr/>
              </a:pPr>
              <a:t>14</a:t>
            </a:fld>
            <a:endParaRPr lang="en-US"/>
          </a:p>
        </p:txBody>
      </p:sp>
    </p:spTree>
    <p:extLst>
      <p:ext uri="{BB962C8B-B14F-4D97-AF65-F5344CB8AC3E}">
        <p14:creationId xmlns:p14="http://schemas.microsoft.com/office/powerpoint/2010/main" val="1805663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9915D-577C-6846-D858-44F267C6F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8159B-2B2E-E7C2-3CDA-91DE12088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02DA5-E6FC-F94C-086A-78277C0AB01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5B96336F-E8E6-C605-328A-CB1A4C1775EB}"/>
              </a:ext>
            </a:extLst>
          </p:cNvPr>
          <p:cNvSpPr>
            <a:spLocks noGrp="1"/>
          </p:cNvSpPr>
          <p:nvPr>
            <p:ph type="sldNum" sz="quarter" idx="10"/>
          </p:nvPr>
        </p:nvSpPr>
        <p:spPr/>
        <p:txBody>
          <a:bodyPr/>
          <a:lstStyle/>
          <a:p>
            <a:fld id="{8CDF8DD4-3383-4D62-ACD9-85A0D4978AAA}" type="slidenum">
              <a:rPr lang="en-US" smtClean="0"/>
              <a:pPr/>
              <a:t>22</a:t>
            </a:fld>
            <a:endParaRPr lang="en-US"/>
          </a:p>
        </p:txBody>
      </p:sp>
    </p:spTree>
    <p:extLst>
      <p:ext uri="{BB962C8B-B14F-4D97-AF65-F5344CB8AC3E}">
        <p14:creationId xmlns:p14="http://schemas.microsoft.com/office/powerpoint/2010/main" val="2036891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140683D-76B9-6F41-9742-5C642E76ACFD}" type="slidenum">
              <a:rPr lang="en-US" smtClean="0"/>
              <a:pPr>
                <a:defRPr/>
              </a:pPr>
              <a:t>27</a:t>
            </a:fld>
            <a:endParaRPr lang="en-US"/>
          </a:p>
        </p:txBody>
      </p:sp>
    </p:spTree>
    <p:extLst>
      <p:ext uri="{BB962C8B-B14F-4D97-AF65-F5344CB8AC3E}">
        <p14:creationId xmlns:p14="http://schemas.microsoft.com/office/powerpoint/2010/main" val="2380001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615F0-B128-47CD-57A0-3DBF0B456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171E1-2C8B-18D1-77A0-2C2F075EBD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7E248-6228-F650-D590-9EFEB42C25F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16A7D16-7807-C06F-CC89-F611595A02B5}"/>
              </a:ext>
            </a:extLst>
          </p:cNvPr>
          <p:cNvSpPr>
            <a:spLocks noGrp="1"/>
          </p:cNvSpPr>
          <p:nvPr>
            <p:ph type="sldNum" sz="quarter" idx="10"/>
          </p:nvPr>
        </p:nvSpPr>
        <p:spPr/>
        <p:txBody>
          <a:bodyPr/>
          <a:lstStyle/>
          <a:p>
            <a:fld id="{8CDF8DD4-3383-4D62-ACD9-85A0D4978AAA}" type="slidenum">
              <a:rPr lang="en-US" smtClean="0"/>
              <a:pPr/>
              <a:t>29</a:t>
            </a:fld>
            <a:endParaRPr lang="en-US"/>
          </a:p>
        </p:txBody>
      </p:sp>
    </p:spTree>
    <p:extLst>
      <p:ext uri="{BB962C8B-B14F-4D97-AF65-F5344CB8AC3E}">
        <p14:creationId xmlns:p14="http://schemas.microsoft.com/office/powerpoint/2010/main" val="2800308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kathykormanfrey.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mailto:support@HotMommaProject.org"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Slide Number Placeholder 5"/>
          <p:cNvSpPr>
            <a:spLocks noGrp="1"/>
          </p:cNvSpPr>
          <p:nvPr>
            <p:ph type="sldNum" sz="quarter" idx="12"/>
          </p:nvPr>
        </p:nvSpPr>
        <p:spPr/>
        <p:txBody>
          <a:bodyPr/>
          <a:lstStyle>
            <a:lvl1pPr algn="r">
              <a:defRPr/>
            </a:lvl1pPr>
          </a:lstStyle>
          <a:p>
            <a:pPr>
              <a:defRPr/>
            </a:pPr>
            <a:fld id="{ABE30B9A-3DDA-3845-B15D-55BD54612029}" type="slidenum">
              <a:rPr lang="en-US" smtClean="0"/>
              <a:pPr>
                <a:defRPr/>
              </a:pPr>
              <a:t>‹#›</a:t>
            </a:fld>
            <a:endParaRPr lang="en-US"/>
          </a:p>
        </p:txBody>
      </p:sp>
    </p:spTree>
    <p:extLst>
      <p:ext uri="{BB962C8B-B14F-4D97-AF65-F5344CB8AC3E}">
        <p14:creationId xmlns:p14="http://schemas.microsoft.com/office/powerpoint/2010/main" val="217907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16"/>
          <p:cNvSpPr>
            <a:spLocks noGrp="1"/>
          </p:cNvSpPr>
          <p:nvPr>
            <p:ph idx="13"/>
          </p:nvPr>
        </p:nvSpPr>
        <p:spPr>
          <a:xfrm>
            <a:off x="457200" y="1608737"/>
            <a:ext cx="8229600" cy="4114800"/>
          </a:xfrm>
        </p:spPr>
        <p:txBody>
          <a:bodyPr/>
          <a:lstStyle/>
          <a:p>
            <a:pPr lvl="0"/>
            <a:r>
              <a:rPr lang="en-US" dirty="0"/>
              <a:t>Click to edit Master text styles</a:t>
            </a:r>
          </a:p>
        </p:txBody>
      </p:sp>
      <p:sp>
        <p:nvSpPr>
          <p:cNvPr id="10" name="Slide Number Placeholder 5"/>
          <p:cNvSpPr>
            <a:spLocks noGrp="1"/>
          </p:cNvSpPr>
          <p:nvPr>
            <p:ph type="sldNum" sz="quarter" idx="14"/>
          </p:nvPr>
        </p:nvSpPr>
        <p:spPr>
          <a:xfrm>
            <a:off x="6781800" y="6452427"/>
            <a:ext cx="2133600" cy="365125"/>
          </a:xfrm>
        </p:spPr>
        <p:txBody>
          <a:bodyPr/>
          <a:lstStyle>
            <a:lvl1pPr>
              <a:defRPr/>
            </a:lvl1pPr>
          </a:lstStyle>
          <a:p>
            <a:pPr>
              <a:defRPr/>
            </a:pPr>
            <a:fld id="{F8741D65-C386-044D-887D-07A47F83AF09}" type="slidenum">
              <a:rPr lang="en-US"/>
              <a:pPr>
                <a:defRPr/>
              </a:pPr>
              <a:t>‹#›</a:t>
            </a:fld>
            <a:endParaRPr lang="en-US"/>
          </a:p>
        </p:txBody>
      </p:sp>
      <p:sp>
        <p:nvSpPr>
          <p:cNvPr id="11" name="TextBox 11"/>
          <p:cNvSpPr txBox="1">
            <a:spLocks noChangeArrowheads="1"/>
          </p:cNvSpPr>
          <p:nvPr userDrawn="1"/>
        </p:nvSpPr>
        <p:spPr bwMode="auto">
          <a:xfrm>
            <a:off x="6781800" y="5943600"/>
            <a:ext cx="2057400" cy="8002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a:r>
              <a:rPr lang="en-US" sz="800" kern="1200" dirty="0">
                <a:solidFill>
                  <a:schemeClr val="tx1"/>
                </a:solidFill>
                <a:latin typeface="Calibri" charset="0"/>
                <a:ea typeface="ＭＳ Ｐゴシック" charset="0"/>
                <a:cs typeface="ＭＳ Ｐゴシック" charset="0"/>
              </a:rPr>
              <a:t>All rights reserved</a:t>
            </a:r>
          </a:p>
          <a:p>
            <a:pPr algn="r"/>
            <a:r>
              <a:rPr lang="en-US" sz="800" kern="1200" dirty="0">
                <a:solidFill>
                  <a:schemeClr val="tx1"/>
                </a:solidFill>
                <a:latin typeface="Calibri" charset="0"/>
                <a:ea typeface="ＭＳ Ｐゴシック" charset="0"/>
                <a:cs typeface="ＭＳ Ｐゴシック" charset="0"/>
              </a:rPr>
              <a:t>© </a:t>
            </a:r>
            <a:r>
              <a:rPr lang="en-US" sz="800" dirty="0">
                <a:solidFill>
                  <a:schemeClr val="tx1"/>
                </a:solidFill>
              </a:rPr>
              <a:t>Copyright Katherine Korman Frey</a:t>
            </a:r>
          </a:p>
          <a:p>
            <a:pPr algn="r"/>
            <a:r>
              <a:rPr lang="en-US" sz="800" dirty="0">
                <a:solidFill>
                  <a:schemeClr val="bg1"/>
                </a:solidFill>
              </a:rPr>
              <a:t>                                                                                                                                                                               </a:t>
            </a:r>
            <a:r>
              <a:rPr lang="en-US" sz="800" dirty="0">
                <a:solidFill>
                  <a:schemeClr val="bg1"/>
                </a:solidFill>
                <a:hlinkClick r:id="rId2"/>
              </a:rPr>
              <a:t>www.KathyKormanFrey.com</a:t>
            </a:r>
            <a:endParaRPr lang="en-US" sz="800" dirty="0">
              <a:solidFill>
                <a:schemeClr val="bg1"/>
              </a:solidFill>
            </a:endParaRPr>
          </a:p>
          <a:p>
            <a:r>
              <a:rPr lang="en-US" sz="1400" dirty="0">
                <a:solidFill>
                  <a:schemeClr val="bg1"/>
                </a:solidFill>
              </a:rPr>
              <a:t>                              </a:t>
            </a:r>
          </a:p>
        </p:txBody>
      </p:sp>
      <p:pic>
        <p:nvPicPr>
          <p:cNvPr id="3" name="Picture 2" descr="JPG _logo quadrant_mult_sat80_equalized.jp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304800" y="6023364"/>
            <a:ext cx="609600" cy="611626"/>
          </a:xfrm>
          <a:prstGeom prst="rect">
            <a:avLst/>
          </a:prstGeom>
        </p:spPr>
      </p:pic>
    </p:spTree>
    <p:extLst>
      <p:ext uri="{BB962C8B-B14F-4D97-AF65-F5344CB8AC3E}">
        <p14:creationId xmlns:p14="http://schemas.microsoft.com/office/powerpoint/2010/main" val="211387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D3CB41F-6430-46A9-8592-B908EF97A5ED}"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dirty="0"/>
          </a:p>
          <a:p>
            <a:r>
              <a:rPr lang="en-US" sz="1000" i="1" dirty="0"/>
              <a:t>This material is for Hot Mommas</a:t>
            </a:r>
            <a:r>
              <a:rPr lang="en-US" sz="1000" b="1" dirty="0"/>
              <a:t>® </a:t>
            </a:r>
            <a:r>
              <a:rPr lang="en-US" sz="1000" i="1" dirty="0"/>
              <a:t>Project / Vision Forward, LLC Leadership Academy, not to be replicated, or posted.</a:t>
            </a:r>
            <a:r>
              <a:rPr lang="en-US" sz="1000" dirty="0"/>
              <a:t> </a:t>
            </a:r>
            <a:r>
              <a:rPr lang="en-US" sz="1000" i="1" dirty="0"/>
              <a:t>For questions about speaking or content licensing </a:t>
            </a:r>
            <a:r>
              <a:rPr lang="en-US" sz="1000" u="sng" dirty="0">
                <a:hlinkClick r:id="rId2"/>
              </a:rPr>
              <a:t>support@HotMommaProject.org</a:t>
            </a:r>
            <a:r>
              <a:rPr lang="en-US" sz="1000" dirty="0"/>
              <a:t> /  202.237.8000 </a:t>
            </a:r>
          </a:p>
        </p:txBody>
      </p:sp>
      <p:sp>
        <p:nvSpPr>
          <p:cNvPr id="6" name="Slide Number Placeholder 5"/>
          <p:cNvSpPr>
            <a:spLocks noGrp="1"/>
          </p:cNvSpPr>
          <p:nvPr>
            <p:ph type="sldNum" sz="quarter" idx="12"/>
          </p:nvPr>
        </p:nvSpPr>
        <p:spPr/>
        <p:txBody>
          <a:bodyPr/>
          <a:lstStyle/>
          <a:p>
            <a:fld id="{759DE5CE-A7EA-4D46-8A18-019F15EB7A0D}" type="slidenum">
              <a:rPr lang="en-US" smtClean="0"/>
              <a:t>‹#›</a:t>
            </a:fld>
            <a:endParaRPr lang="en-US"/>
          </a:p>
        </p:txBody>
      </p:sp>
    </p:spTree>
    <p:extLst>
      <p:ext uri="{BB962C8B-B14F-4D97-AF65-F5344CB8AC3E}">
        <p14:creationId xmlns:p14="http://schemas.microsoft.com/office/powerpoint/2010/main" val="2891685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418F15-AC3F-DA49-AD87-ECDDDDB37CF3}" type="slidenum">
              <a:rPr lang="en-US"/>
              <a:pPr>
                <a:defRPr/>
              </a:pPr>
              <a:t>‹#›</a:t>
            </a:fld>
            <a:endParaRPr lang="en-US"/>
          </a:p>
        </p:txBody>
      </p:sp>
    </p:spTree>
    <p:extLst>
      <p:ext uri="{BB962C8B-B14F-4D97-AF65-F5344CB8AC3E}">
        <p14:creationId xmlns:p14="http://schemas.microsoft.com/office/powerpoint/2010/main" val="121185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9C3C8A-0F56-0D46-8C62-D534CEF4070F}" type="slidenum">
              <a:rPr lang="en-US"/>
              <a:pPr>
                <a:defRPr/>
              </a:pPr>
              <a:t>‹#›</a:t>
            </a:fld>
            <a:endParaRPr lang="en-US"/>
          </a:p>
        </p:txBody>
      </p:sp>
    </p:spTree>
    <p:extLst>
      <p:ext uri="{BB962C8B-B14F-4D97-AF65-F5344CB8AC3E}">
        <p14:creationId xmlns:p14="http://schemas.microsoft.com/office/powerpoint/2010/main" val="3619761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9FA2DF9-EDA4-714C-BA7A-930335976804}" type="slidenum">
              <a:rPr lang="en-US"/>
              <a:pPr>
                <a:defRPr/>
              </a:pPr>
              <a:t>‹#›</a:t>
            </a:fld>
            <a:endParaRPr lang="en-US"/>
          </a:p>
        </p:txBody>
      </p:sp>
    </p:spTree>
    <p:extLst>
      <p:ext uri="{BB962C8B-B14F-4D97-AF65-F5344CB8AC3E}">
        <p14:creationId xmlns:p14="http://schemas.microsoft.com/office/powerpoint/2010/main" val="68252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E9FCD75-452F-C342-9CF0-EAB61F8049BD}" type="slidenum">
              <a:rPr lang="en-US"/>
              <a:pPr>
                <a:defRPr/>
              </a:pPr>
              <a:t>‹#›</a:t>
            </a:fld>
            <a:endParaRPr lang="en-US"/>
          </a:p>
        </p:txBody>
      </p:sp>
    </p:spTree>
    <p:extLst>
      <p:ext uri="{BB962C8B-B14F-4D97-AF65-F5344CB8AC3E}">
        <p14:creationId xmlns:p14="http://schemas.microsoft.com/office/powerpoint/2010/main" val="1630608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0DC8F78-ADDC-7A44-971C-AB5C34DAF385}" type="slidenum">
              <a:rPr lang="en-US"/>
              <a:pPr>
                <a:defRPr/>
              </a:pPr>
              <a:t>‹#›</a:t>
            </a:fld>
            <a:endParaRPr lang="en-US"/>
          </a:p>
        </p:txBody>
      </p:sp>
    </p:spTree>
    <p:extLst>
      <p:ext uri="{BB962C8B-B14F-4D97-AF65-F5344CB8AC3E}">
        <p14:creationId xmlns:p14="http://schemas.microsoft.com/office/powerpoint/2010/main" val="4013269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9797762-A1C4-EE41-9E30-6438D6077726}" type="slidenum">
              <a:rPr lang="en-US"/>
              <a:pPr>
                <a:defRPr/>
              </a:pPr>
              <a:t>‹#›</a:t>
            </a:fld>
            <a:endParaRPr lang="en-US"/>
          </a:p>
        </p:txBody>
      </p:sp>
    </p:spTree>
    <p:extLst>
      <p:ext uri="{BB962C8B-B14F-4D97-AF65-F5344CB8AC3E}">
        <p14:creationId xmlns:p14="http://schemas.microsoft.com/office/powerpoint/2010/main" val="1288136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7604AB2-7895-2E42-9151-76D25E418220}" type="slidenum">
              <a:rPr lang="en-US"/>
              <a:pPr>
                <a:defRPr/>
              </a:pPr>
              <a:t>‹#›</a:t>
            </a:fld>
            <a:endParaRPr lang="en-US"/>
          </a:p>
        </p:txBody>
      </p:sp>
    </p:spTree>
    <p:extLst>
      <p:ext uri="{BB962C8B-B14F-4D97-AF65-F5344CB8AC3E}">
        <p14:creationId xmlns:p14="http://schemas.microsoft.com/office/powerpoint/2010/main" val="2573250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0F5512B-6F1B-904D-AFC0-4ED7F74B4F6E}" type="slidenum">
              <a:rPr lang="en-US"/>
              <a:pPr>
                <a:defRPr/>
              </a:pPr>
              <a:t>‹#›</a:t>
            </a:fld>
            <a:endParaRPr lang="en-US"/>
          </a:p>
        </p:txBody>
      </p:sp>
    </p:spTree>
    <p:extLst>
      <p:ext uri="{BB962C8B-B14F-4D97-AF65-F5344CB8AC3E}">
        <p14:creationId xmlns:p14="http://schemas.microsoft.com/office/powerpoint/2010/main" val="3844011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B086516-AF94-A248-AA59-600EFB7B2553}" type="slidenum">
              <a:rPr lang="en-US"/>
              <a:pPr>
                <a:defRPr/>
              </a:pPr>
              <a:t>‹#›</a:t>
            </a:fld>
            <a:endParaRPr lang="en-US"/>
          </a:p>
        </p:txBody>
      </p:sp>
    </p:spTree>
    <p:extLst>
      <p:ext uri="{BB962C8B-B14F-4D97-AF65-F5344CB8AC3E}">
        <p14:creationId xmlns:p14="http://schemas.microsoft.com/office/powerpoint/2010/main" val="3480126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3EC43E-1B52-B743-9D39-96D7277D1C84}" type="slidenum">
              <a:rPr lang="en-US"/>
              <a:pPr>
                <a:defRPr/>
              </a:pPr>
              <a:t>‹#›</a:t>
            </a:fld>
            <a:endParaRPr lang="en-US"/>
          </a:p>
        </p:txBody>
      </p:sp>
    </p:spTree>
    <p:extLst>
      <p:ext uri="{BB962C8B-B14F-4D97-AF65-F5344CB8AC3E}">
        <p14:creationId xmlns:p14="http://schemas.microsoft.com/office/powerpoint/2010/main" val="6462085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B3F5CFC-3388-894B-9838-001CFD6ED62A}" type="slidenum">
              <a:rPr lang="en-US"/>
              <a:pPr>
                <a:defRPr/>
              </a:pPr>
              <a:t>‹#›</a:t>
            </a:fld>
            <a:endParaRPr lang="en-US"/>
          </a:p>
        </p:txBody>
      </p:sp>
    </p:spTree>
    <p:extLst>
      <p:ext uri="{BB962C8B-B14F-4D97-AF65-F5344CB8AC3E}">
        <p14:creationId xmlns:p14="http://schemas.microsoft.com/office/powerpoint/2010/main" val="23761364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19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705600" y="548640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FE670362-8CF8-B747-B69E-226F1E2C9B9C}" type="slidenum">
              <a:rPr lang="en-US" smtClean="0"/>
              <a:pPr>
                <a:defRPr/>
              </a:pPr>
              <a:t>‹#›</a:t>
            </a:fld>
            <a:endParaRPr lang="en-US"/>
          </a:p>
        </p:txBody>
      </p:sp>
      <p:sp>
        <p:nvSpPr>
          <p:cNvPr id="2" name="Footer Placeholder 1"/>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hf hdr="0" ftr="0" dt="0"/>
  <p:txStyles>
    <p:titleStyle>
      <a:lvl1pPr algn="ctr"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88B48D4B-05E2-B349-8D4D-88B7F30AB6E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hdr="0" ftr="0" dt="0"/>
  <p:txStyles>
    <p:titleStyle>
      <a:lvl1pPr algn="ctr" rtl="0" fontAlgn="base">
        <a:spcBef>
          <a:spcPct val="0"/>
        </a:spcBef>
        <a:spcAft>
          <a:spcPct val="0"/>
        </a:spcAft>
        <a:defRPr sz="4400" kern="1200">
          <a:solidFill>
            <a:schemeClr val="tx1"/>
          </a:solidFill>
          <a:latin typeface="+mj-lt"/>
          <a:ea typeface="ＭＳ Ｐゴシック" charset="0"/>
          <a:cs typeface="ＭＳ Ｐゴシック" charset="0"/>
        </a:defRPr>
      </a:lvl1pPr>
      <a:lvl2pPr algn="ctr" rtl="0" fontAlgn="base">
        <a:spcBef>
          <a:spcPct val="0"/>
        </a:spcBef>
        <a:spcAft>
          <a:spcPct val="0"/>
        </a:spcAft>
        <a:defRPr sz="4400">
          <a:solidFill>
            <a:schemeClr val="tx1"/>
          </a:solidFill>
          <a:latin typeface="Calibri" charset="0"/>
          <a:ea typeface="ＭＳ Ｐゴシック" charset="0"/>
          <a:cs typeface="ＭＳ Ｐゴシック" charset="0"/>
        </a:defRPr>
      </a:lvl2pPr>
      <a:lvl3pPr algn="ctr" rtl="0" fontAlgn="base">
        <a:spcBef>
          <a:spcPct val="0"/>
        </a:spcBef>
        <a:spcAft>
          <a:spcPct val="0"/>
        </a:spcAft>
        <a:defRPr sz="4400">
          <a:solidFill>
            <a:schemeClr val="tx1"/>
          </a:solidFill>
          <a:latin typeface="Calibri" charset="0"/>
          <a:ea typeface="ＭＳ Ｐゴシック" charset="0"/>
          <a:cs typeface="ＭＳ Ｐゴシック" charset="0"/>
        </a:defRPr>
      </a:lvl3pPr>
      <a:lvl4pPr algn="ctr" rtl="0" fontAlgn="base">
        <a:spcBef>
          <a:spcPct val="0"/>
        </a:spcBef>
        <a:spcAft>
          <a:spcPct val="0"/>
        </a:spcAft>
        <a:defRPr sz="4400">
          <a:solidFill>
            <a:schemeClr val="tx1"/>
          </a:solidFill>
          <a:latin typeface="Calibri" charset="0"/>
          <a:ea typeface="ＭＳ Ｐゴシック" charset="0"/>
          <a:cs typeface="ＭＳ Ｐゴシック" charset="0"/>
        </a:defRPr>
      </a:lvl4pPr>
      <a:lvl5pPr algn="ctr" rtl="0" fontAlgn="base">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fontAlgn="base">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support@HotMommaProject.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formationtransfereconomics.blogspot.com/2015/12/who-said-macroeconomics-isnt.html" TargetMode="External"/><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hyperlink" Target="https://creativecommons.org/licenses/by/3.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hbr.org/2014/06/why-women-dont-negotiate-their-job-offer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nformationtransfereconomics.blogspot.com/2015/12/who-said-macroeconomics-isnt.html" TargetMode="External"/><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nformationtransfereconomics.blogspot.com/2015/12/who-said-macroeconomics-isnt.html" TargetMode="External"/><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hyperlink" Target="https://creativecommons.org/licenses/by/3.0/"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informationtransfereconomics.blogspot.com/2015/12/who-said-macroeconomics-isnt.html"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informationtransfereconomics.blogspot.com/2015/12/who-said-macroeconomics-isnt.html" TargetMode="External"/><Relationship Id="rId5" Type="http://schemas.openxmlformats.org/officeDocument/2006/relationships/image" Target="../media/image4.jpg"/><Relationship Id="rId4" Type="http://schemas.openxmlformats.org/officeDocument/2006/relationships/hyperlink" Target="https://www.youtube.com/watch?v=asaCQOZpqUQ"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informationtransfereconomics.blogspot.com/2015/12/who-said-macroeconomics-isnt.html" TargetMode="External"/><Relationship Id="rId5" Type="http://schemas.openxmlformats.org/officeDocument/2006/relationships/image" Target="../media/image4.jpg"/><Relationship Id="rId4" Type="http://schemas.openxmlformats.org/officeDocument/2006/relationships/hyperlink" Target="https://www.youtube.com/watch?v=asaCQOZpqU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D7EB-1F42-0C45-941F-E196585C0D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0C4E74-F276-7345-9E83-6520F679DC82}"/>
              </a:ext>
            </a:extLst>
          </p:cNvPr>
          <p:cNvSpPr>
            <a:spLocks noGrp="1"/>
          </p:cNvSpPr>
          <p:nvPr>
            <p:ph idx="13"/>
          </p:nvPr>
        </p:nvSpPr>
        <p:spPr/>
        <p:txBody>
          <a:bodyPr/>
          <a:lstStyle/>
          <a:p>
            <a:endParaRPr lang="en-US"/>
          </a:p>
        </p:txBody>
      </p:sp>
      <p:sp>
        <p:nvSpPr>
          <p:cNvPr id="4" name="Slide Number Placeholder 3">
            <a:extLst>
              <a:ext uri="{FF2B5EF4-FFF2-40B4-BE49-F238E27FC236}">
                <a16:creationId xmlns:a16="http://schemas.microsoft.com/office/drawing/2014/main" id="{8BB17BDF-A8CA-8D4C-88B9-D9A2F07613F2}"/>
              </a:ext>
            </a:extLst>
          </p:cNvPr>
          <p:cNvSpPr>
            <a:spLocks noGrp="1"/>
          </p:cNvSpPr>
          <p:nvPr>
            <p:ph type="sldNum" sz="quarter" idx="14"/>
          </p:nvPr>
        </p:nvSpPr>
        <p:spPr/>
        <p:txBody>
          <a:bodyPr/>
          <a:lstStyle/>
          <a:p>
            <a:pPr>
              <a:defRPr/>
            </a:pPr>
            <a:fld id="{F8741D65-C386-044D-887D-07A47F83AF09}" type="slidenum">
              <a:rPr lang="en-US" smtClean="0"/>
              <a:pPr>
                <a:defRPr/>
              </a:pPr>
              <a:t>1</a:t>
            </a:fld>
            <a:endParaRPr lang="en-US"/>
          </a:p>
        </p:txBody>
      </p:sp>
      <p:pic>
        <p:nvPicPr>
          <p:cNvPr id="5" name="Picture 4" descr="Header_2048*1356.jpg">
            <a:extLst>
              <a:ext uri="{FF2B5EF4-FFF2-40B4-BE49-F238E27FC236}">
                <a16:creationId xmlns:a16="http://schemas.microsoft.com/office/drawing/2014/main" id="{582A2BAD-99BB-6141-902C-990DC0040F0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Title 2">
            <a:extLst>
              <a:ext uri="{FF2B5EF4-FFF2-40B4-BE49-F238E27FC236}">
                <a16:creationId xmlns:a16="http://schemas.microsoft.com/office/drawing/2014/main" id="{FA3793DE-AAEA-174F-BDDE-4AE4B9958337}"/>
              </a:ext>
            </a:extLst>
          </p:cNvPr>
          <p:cNvSpPr txBox="1">
            <a:spLocks/>
          </p:cNvSpPr>
          <p:nvPr/>
        </p:nvSpPr>
        <p:spPr bwMode="auto">
          <a:xfrm>
            <a:off x="736600" y="3743413"/>
            <a:ext cx="7772400" cy="147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noAutofit/>
          </a:bodyPr>
          <a:lstStyle>
            <a:lvl1pPr algn="ctr"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a:lstStyle>
          <a:p>
            <a:br>
              <a:rPr lang="en-US" sz="7200" b="1" dirty="0">
                <a:solidFill>
                  <a:srgbClr val="FFFFFF"/>
                </a:solidFill>
                <a:latin typeface="Avenir Heavy"/>
                <a:cs typeface="Avenir Heavy"/>
              </a:rPr>
            </a:br>
            <a:r>
              <a:rPr lang="en-US" sz="7200" b="1" dirty="0">
                <a:solidFill>
                  <a:srgbClr val="FFFFFF"/>
                </a:solidFill>
                <a:latin typeface="Avenir Heavy"/>
                <a:cs typeface="Avenir Heavy"/>
              </a:rPr>
              <a:t>WEL GW</a:t>
            </a:r>
            <a:br>
              <a:rPr lang="en-US" sz="6600" b="1" dirty="0">
                <a:solidFill>
                  <a:srgbClr val="FFFFFF"/>
                </a:solidFill>
                <a:latin typeface="Avenir Heavy"/>
                <a:cs typeface="Avenir Heavy"/>
              </a:rPr>
            </a:br>
            <a:r>
              <a:rPr lang="en-US" sz="6600" b="1" dirty="0">
                <a:solidFill>
                  <a:srgbClr val="FFFFFF"/>
                </a:solidFill>
                <a:latin typeface="Avenir Heavy"/>
                <a:cs typeface="Avenir Heavy"/>
              </a:rPr>
              <a:t>Women’s Entrepreneurial Leadership</a:t>
            </a:r>
            <a:br>
              <a:rPr lang="en-US" sz="9600" b="1" dirty="0">
                <a:solidFill>
                  <a:srgbClr val="FFFFFF"/>
                </a:solidFill>
                <a:latin typeface="Avenir Heavy"/>
                <a:cs typeface="Avenir Heavy"/>
              </a:rPr>
            </a:br>
            <a:r>
              <a:rPr lang="en-US" sz="9600" b="1" dirty="0">
                <a:solidFill>
                  <a:srgbClr val="FFFFFF"/>
                </a:solidFill>
                <a:latin typeface="Avenir Heavy"/>
                <a:cs typeface="Avenir Heavy"/>
              </a:rPr>
              <a:t>`</a:t>
            </a:r>
            <a:br>
              <a:rPr lang="en-US" sz="6600" b="1" dirty="0">
                <a:solidFill>
                  <a:srgbClr val="FFFFFF"/>
                </a:solidFill>
                <a:latin typeface="Avenir Heavy"/>
                <a:cs typeface="Avenir Heavy"/>
              </a:rPr>
            </a:br>
            <a:endParaRPr lang="en-US" sz="6600" b="1" dirty="0">
              <a:solidFill>
                <a:srgbClr val="FFFFFF"/>
              </a:solidFill>
              <a:latin typeface="Avenir Heavy"/>
              <a:cs typeface="Avenir Heavy"/>
            </a:endParaRPr>
          </a:p>
        </p:txBody>
      </p:sp>
      <p:sp>
        <p:nvSpPr>
          <p:cNvPr id="7" name="TextBox 6">
            <a:extLst>
              <a:ext uri="{FF2B5EF4-FFF2-40B4-BE49-F238E27FC236}">
                <a16:creationId xmlns:a16="http://schemas.microsoft.com/office/drawing/2014/main" id="{380BE193-9546-F044-9A23-41F031DF3690}"/>
              </a:ext>
            </a:extLst>
          </p:cNvPr>
          <p:cNvSpPr txBox="1"/>
          <p:nvPr/>
        </p:nvSpPr>
        <p:spPr>
          <a:xfrm>
            <a:off x="1066800" y="6132036"/>
            <a:ext cx="7112000" cy="738664"/>
          </a:xfrm>
          <a:prstGeom prst="rect">
            <a:avLst/>
          </a:prstGeom>
          <a:solidFill>
            <a:schemeClr val="bg1">
              <a:alpha val="43000"/>
            </a:schemeClr>
          </a:solidFill>
        </p:spPr>
        <p:txBody>
          <a:bodyPr wrap="square" rtlCol="0">
            <a:spAutoFit/>
          </a:bodyPr>
          <a:lstStyle/>
          <a:p>
            <a:pPr algn="ctr"/>
            <a:r>
              <a:rPr lang="en-US" sz="1400" b="1" i="1" dirty="0"/>
              <a:t>This material is for Hot Mommas® Project / Vision Forward, LLC Leadership Academy, not to be replicated, or posted. For questions about speaking or content licensing </a:t>
            </a:r>
            <a:r>
              <a:rPr lang="en-US" sz="1400" b="1" i="1" u="sng" dirty="0">
                <a:hlinkClick r:id="rId4"/>
              </a:rPr>
              <a:t>support@HotMommaProject.org</a:t>
            </a:r>
            <a:r>
              <a:rPr lang="en-US" sz="1400" b="1" i="1" dirty="0"/>
              <a:t> /  202.237.8000 </a:t>
            </a:r>
          </a:p>
        </p:txBody>
      </p:sp>
      <p:sp>
        <p:nvSpPr>
          <p:cNvPr id="9" name="TextBox 8">
            <a:extLst>
              <a:ext uri="{FF2B5EF4-FFF2-40B4-BE49-F238E27FC236}">
                <a16:creationId xmlns:a16="http://schemas.microsoft.com/office/drawing/2014/main" id="{C0EEE0AB-2589-FF2B-D5C1-13BE9899F8FD}"/>
              </a:ext>
            </a:extLst>
          </p:cNvPr>
          <p:cNvSpPr txBox="1"/>
          <p:nvPr/>
        </p:nvSpPr>
        <p:spPr>
          <a:xfrm>
            <a:off x="2514600" y="4747139"/>
            <a:ext cx="4572000" cy="369332"/>
          </a:xfrm>
          <a:prstGeom prst="rect">
            <a:avLst/>
          </a:prstGeom>
          <a:noFill/>
        </p:spPr>
        <p:txBody>
          <a:bodyPr wrap="square">
            <a:spAutoFit/>
          </a:bodyPr>
          <a:lstStyle/>
          <a:p>
            <a:endParaRPr lang="en-US" sz="1800" b="1" dirty="0">
              <a:solidFill>
                <a:srgbClr val="FF0000"/>
              </a:solidFill>
              <a:highlight>
                <a:srgbClr val="FFFF00"/>
              </a:highlight>
              <a:latin typeface="Avenir Heavy"/>
              <a:cs typeface="Avenir Heavy"/>
            </a:endParaRPr>
          </a:p>
        </p:txBody>
      </p:sp>
    </p:spTree>
    <p:extLst>
      <p:ext uri="{BB962C8B-B14F-4D97-AF65-F5344CB8AC3E}">
        <p14:creationId xmlns:p14="http://schemas.microsoft.com/office/powerpoint/2010/main" val="3973647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9C3482F-3CDC-C649-A4CC-DDD56C74F53E}"/>
              </a:ext>
            </a:extLst>
          </p:cNvPr>
          <p:cNvPicPr>
            <a:picLocks noChangeAspect="1"/>
          </p:cNvPicPr>
          <p:nvPr/>
        </p:nvPicPr>
        <p:blipFill>
          <a:blip r:embed="rId3"/>
          <a:stretch>
            <a:fillRect/>
          </a:stretch>
        </p:blipFill>
        <p:spPr>
          <a:xfrm>
            <a:off x="0" y="0"/>
            <a:ext cx="4648200" cy="6858000"/>
          </a:xfrm>
          <a:prstGeom prst="rect">
            <a:avLst/>
          </a:prstGeom>
        </p:spPr>
      </p:pic>
      <p:sp>
        <p:nvSpPr>
          <p:cNvPr id="5" name="Slide Number Placeholder 4"/>
          <p:cNvSpPr>
            <a:spLocks noGrp="1"/>
          </p:cNvSpPr>
          <p:nvPr>
            <p:ph type="sldNum" sz="quarter" idx="14"/>
          </p:nvPr>
        </p:nvSpPr>
        <p:spPr/>
        <p:txBody>
          <a:bodyPr/>
          <a:lstStyle/>
          <a:p>
            <a:pPr>
              <a:defRPr/>
            </a:pPr>
            <a:fld id="{F8741D65-C386-044D-887D-07A47F83AF09}" type="slidenum">
              <a:rPr lang="en-US" smtClean="0"/>
              <a:pPr>
                <a:defRPr/>
              </a:pPr>
              <a:t>2</a:t>
            </a:fld>
            <a:endParaRPr lang="en-US"/>
          </a:p>
        </p:txBody>
      </p:sp>
      <p:sp>
        <p:nvSpPr>
          <p:cNvPr id="10" name="Rectangle 3">
            <a:extLst>
              <a:ext uri="{FF2B5EF4-FFF2-40B4-BE49-F238E27FC236}">
                <a16:creationId xmlns:a16="http://schemas.microsoft.com/office/drawing/2014/main" id="{228BED1C-8FCC-8649-8627-747CAF7D32D7}"/>
              </a:ext>
            </a:extLst>
          </p:cNvPr>
          <p:cNvSpPr txBox="1">
            <a:spLocks noChangeArrowheads="1"/>
          </p:cNvSpPr>
          <p:nvPr/>
        </p:nvSpPr>
        <p:spPr>
          <a:xfrm>
            <a:off x="4661452" y="981902"/>
            <a:ext cx="4343400" cy="54705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Tx/>
              <a:buNone/>
            </a:pPr>
            <a:r>
              <a:rPr lang="en-US" sz="4400" b="1" dirty="0">
                <a:latin typeface="Avenir Heavy"/>
                <a:ea typeface="+mj-ea"/>
              </a:rPr>
              <a:t>Today:</a:t>
            </a:r>
          </a:p>
          <a:p>
            <a:pPr algn="ctr">
              <a:buFontTx/>
              <a:buNone/>
            </a:pPr>
            <a:endParaRPr lang="en-US" sz="1200" b="1" dirty="0">
              <a:latin typeface="Avenir Heavy"/>
              <a:ea typeface="+mj-ea"/>
            </a:endParaRPr>
          </a:p>
          <a:p>
            <a:r>
              <a:rPr lang="en-US" sz="4400" b="1" dirty="0">
                <a:latin typeface="Avenir Heavy"/>
                <a:ea typeface="+mj-ea"/>
              </a:rPr>
              <a:t>AI BOA </a:t>
            </a:r>
          </a:p>
          <a:p>
            <a:r>
              <a:rPr lang="en-US" sz="4400" b="1" dirty="0">
                <a:latin typeface="Avenir Heavy"/>
                <a:ea typeface="+mj-ea"/>
              </a:rPr>
              <a:t>Why</a:t>
            </a:r>
          </a:p>
          <a:p>
            <a:r>
              <a:rPr lang="en-US" sz="4400" b="1" dirty="0">
                <a:latin typeface="Avenir Heavy"/>
                <a:ea typeface="+mj-ea"/>
              </a:rPr>
              <a:t>How</a:t>
            </a:r>
          </a:p>
          <a:p>
            <a:r>
              <a:rPr lang="en-US" sz="4400" b="1" dirty="0">
                <a:latin typeface="Avenir Heavy"/>
                <a:ea typeface="+mj-ea"/>
              </a:rPr>
              <a:t>Results</a:t>
            </a:r>
          </a:p>
          <a:p>
            <a:r>
              <a:rPr lang="en-US" sz="4400" b="1" i="1" dirty="0">
                <a:latin typeface="Avenir Heavy"/>
              </a:rPr>
              <a:t>+Bonus </a:t>
            </a:r>
          </a:p>
          <a:p>
            <a:pPr marL="0" indent="0">
              <a:buNone/>
            </a:pPr>
            <a:endParaRPr lang="en-US" sz="4400" b="1" dirty="0">
              <a:latin typeface="Avenir Heavy"/>
              <a:ea typeface="+mj-ea"/>
            </a:endParaRPr>
          </a:p>
        </p:txBody>
      </p:sp>
    </p:spTree>
    <p:extLst>
      <p:ext uri="{BB962C8B-B14F-4D97-AF65-F5344CB8AC3E}">
        <p14:creationId xmlns:p14="http://schemas.microsoft.com/office/powerpoint/2010/main" val="371774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44F4-12DE-F71E-B4B3-F16371577811}"/>
            </a:ext>
          </a:extLst>
        </p:cNvPr>
        <p:cNvGrpSpPr/>
        <p:nvPr/>
      </p:nvGrpSpPr>
      <p:grpSpPr>
        <a:xfrm>
          <a:off x="0" y="0"/>
          <a:ext cx="0" cy="0"/>
          <a:chOff x="0" y="0"/>
          <a:chExt cx="0" cy="0"/>
        </a:xfrm>
      </p:grpSpPr>
      <p:pic>
        <p:nvPicPr>
          <p:cNvPr id="6" name="Content Placeholder 5" descr="Long shot of a conference room&#10;&#10;AI-generated content may be incorrect.">
            <a:extLst>
              <a:ext uri="{FF2B5EF4-FFF2-40B4-BE49-F238E27FC236}">
                <a16:creationId xmlns:a16="http://schemas.microsoft.com/office/drawing/2014/main" id="{46004BE1-580A-6B26-A16D-025B2575CF7B}"/>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0882" b="16632"/>
          <a:stretch/>
        </p:blipFill>
        <p:spPr>
          <a:xfrm>
            <a:off x="0" y="0"/>
            <a:ext cx="9144000" cy="6858000"/>
          </a:xfrm>
          <a:noFill/>
        </p:spPr>
      </p:pic>
      <p:sp>
        <p:nvSpPr>
          <p:cNvPr id="7" name="TextBox 6">
            <a:extLst>
              <a:ext uri="{FF2B5EF4-FFF2-40B4-BE49-F238E27FC236}">
                <a16:creationId xmlns:a16="http://schemas.microsoft.com/office/drawing/2014/main" id="{CE05B57E-22CB-C77E-02CC-0E04B510DA9C}"/>
              </a:ext>
            </a:extLst>
          </p:cNvPr>
          <p:cNvSpPr txBox="1"/>
          <p:nvPr/>
        </p:nvSpPr>
        <p:spPr>
          <a:xfrm>
            <a:off x="6923316" y="6492647"/>
            <a:ext cx="2186817"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ea typeface="+mn-ea"/>
                <a:cs typeface="+mn-cs"/>
                <a:hlinkClick r:id="rId3" tooltip="https://informationtransfereconomics.blogspot.com/2015/12/who-said-macroeconomics-isnt.html">
                  <a:extLst>
                    <a:ext uri="{A12FA001-AC4F-418D-AE19-62706E023703}">
                      <ahyp:hlinkClr xmlns:ahyp="http://schemas.microsoft.com/office/drawing/2018/hyperlinkcolor" val="tx"/>
                    </a:ext>
                  </a:extLst>
                </a:hlinkClick>
              </a:rPr>
              <a:t>This Photo</a:t>
            </a:r>
            <a:r>
              <a:rPr lang="en-US" sz="700">
                <a:solidFill>
                  <a:srgbClr val="FFFFFF"/>
                </a:solidFill>
                <a:latin typeface="+mn-lt"/>
                <a:ea typeface="+mn-ea"/>
                <a:cs typeface="+mn-cs"/>
              </a:rPr>
              <a:t> by Unknown Author is licensed under </a:t>
            </a:r>
            <a:r>
              <a:rPr lang="en-US" sz="700">
                <a:solidFill>
                  <a:srgbClr val="FFFFFF"/>
                </a:solidFill>
                <a:latin typeface="+mn-lt"/>
                <a:ea typeface="+mn-ea"/>
                <a:cs typeface="+mn-cs"/>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latin typeface="+mn-lt"/>
              <a:ea typeface="+mn-ea"/>
              <a:cs typeface="+mn-cs"/>
            </a:endParaRPr>
          </a:p>
        </p:txBody>
      </p:sp>
      <p:sp>
        <p:nvSpPr>
          <p:cNvPr id="9" name="Rounded Rectangle 8">
            <a:extLst>
              <a:ext uri="{FF2B5EF4-FFF2-40B4-BE49-F238E27FC236}">
                <a16:creationId xmlns:a16="http://schemas.microsoft.com/office/drawing/2014/main" id="{E9C17511-162C-213A-3C97-13835F26F2E5}"/>
              </a:ext>
            </a:extLst>
          </p:cNvPr>
          <p:cNvSpPr/>
          <p:nvPr/>
        </p:nvSpPr>
        <p:spPr>
          <a:xfrm>
            <a:off x="76200" y="139898"/>
            <a:ext cx="5943600" cy="1582327"/>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77;p16">
            <a:extLst>
              <a:ext uri="{FF2B5EF4-FFF2-40B4-BE49-F238E27FC236}">
                <a16:creationId xmlns:a16="http://schemas.microsoft.com/office/drawing/2014/main" id="{B25E5FBC-79B6-313C-20E3-F8C6E83DCFD9}"/>
              </a:ext>
            </a:extLst>
          </p:cNvPr>
          <p:cNvSpPr txBox="1">
            <a:spLocks noGrp="1"/>
          </p:cNvSpPr>
          <p:nvPr>
            <p:ph type="title"/>
          </p:nvPr>
        </p:nvSpPr>
        <p:spPr>
          <a:xfrm>
            <a:off x="88232" y="989013"/>
            <a:ext cx="6096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4800" b="1" dirty="0">
                <a:latin typeface="Avenir"/>
                <a:ea typeface="Avenir"/>
                <a:cs typeface="Avenir"/>
                <a:sym typeface="Avenir"/>
              </a:rPr>
              <a:t>INSIDE THE BOARD ROOM</a:t>
            </a:r>
            <a:br>
              <a:rPr lang="en" sz="4800" b="1" dirty="0">
                <a:latin typeface="Avenir"/>
                <a:ea typeface="Avenir"/>
                <a:cs typeface="Avenir"/>
                <a:sym typeface="Avenir"/>
              </a:rPr>
            </a:br>
            <a:endParaRPr sz="4800" b="1" dirty="0">
              <a:latin typeface="Avenir"/>
              <a:ea typeface="Avenir"/>
              <a:cs typeface="Avenir"/>
              <a:sym typeface="Avenir"/>
            </a:endParaRPr>
          </a:p>
        </p:txBody>
      </p:sp>
      <p:sp>
        <p:nvSpPr>
          <p:cNvPr id="2" name="Footer Placeholder 1">
            <a:extLst>
              <a:ext uri="{FF2B5EF4-FFF2-40B4-BE49-F238E27FC236}">
                <a16:creationId xmlns:a16="http://schemas.microsoft.com/office/drawing/2014/main" id="{A73F9C29-6C6C-7F1A-95BC-77DD4882C178}"/>
              </a:ext>
            </a:extLst>
          </p:cNvPr>
          <p:cNvSpPr>
            <a:spLocks noGrp="1"/>
          </p:cNvSpPr>
          <p:nvPr>
            <p:ph type="ftr" sz="quarter" idx="11"/>
          </p:nvPr>
        </p:nvSpPr>
        <p:spPr/>
        <p:txBody>
          <a:bodyPr/>
          <a:lstStyle/>
          <a:p>
            <a:r>
              <a:rPr lang="en-US"/>
              <a:t>Copyright Katherine Korman Frey and Natalie Goldberg</a:t>
            </a:r>
            <a:endParaRPr lang="en-US" sz="1000" dirty="0"/>
          </a:p>
        </p:txBody>
      </p:sp>
      <p:sp>
        <p:nvSpPr>
          <p:cNvPr id="3" name="Footer Placeholder 4">
            <a:extLst>
              <a:ext uri="{FF2B5EF4-FFF2-40B4-BE49-F238E27FC236}">
                <a16:creationId xmlns:a16="http://schemas.microsoft.com/office/drawing/2014/main" id="{4A697713-3D89-827A-2DDE-D3B476FA6D33}"/>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r>
              <a:rPr lang="en-US">
                <a:solidFill>
                  <a:schemeClr val="bg1"/>
                </a:solidFill>
              </a:rPr>
              <a:t>Copyright Katherine Korman Frey </a:t>
            </a:r>
            <a:endParaRPr lang="en-US" sz="1000" dirty="0">
              <a:solidFill>
                <a:schemeClr val="bg1"/>
              </a:solidFill>
            </a:endParaRPr>
          </a:p>
        </p:txBody>
      </p:sp>
    </p:spTree>
    <p:extLst>
      <p:ext uri="{BB962C8B-B14F-4D97-AF65-F5344CB8AC3E}">
        <p14:creationId xmlns:p14="http://schemas.microsoft.com/office/powerpoint/2010/main" val="2581003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DFDB3-D4F2-4603-C694-B759386593B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7034385-CBDA-C967-C383-29AF18296FD3}"/>
              </a:ext>
            </a:extLst>
          </p:cNvPr>
          <p:cNvSpPr>
            <a:spLocks noGrp="1"/>
          </p:cNvSpPr>
          <p:nvPr>
            <p:ph type="sldNum" sz="quarter" idx="14"/>
          </p:nvPr>
        </p:nvSpPr>
        <p:spPr/>
        <p:txBody>
          <a:bodyPr/>
          <a:lstStyle/>
          <a:p>
            <a:pPr>
              <a:defRPr/>
            </a:pPr>
            <a:fld id="{F8741D65-C386-044D-887D-07A47F83AF09}" type="slidenum">
              <a:rPr lang="en-US" smtClean="0"/>
              <a:pPr>
                <a:defRPr/>
              </a:pPr>
              <a:t>4</a:t>
            </a:fld>
            <a:endParaRPr lang="en-US"/>
          </a:p>
        </p:txBody>
      </p:sp>
      <p:pic>
        <p:nvPicPr>
          <p:cNvPr id="3" name="Picture 2" descr="A picture containing hydrozoan&#10;&#10;Description automatically generated">
            <a:extLst>
              <a:ext uri="{FF2B5EF4-FFF2-40B4-BE49-F238E27FC236}">
                <a16:creationId xmlns:a16="http://schemas.microsoft.com/office/drawing/2014/main" id="{4540C54B-4E82-5785-8BC8-2BEBCAEFB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12" y="0"/>
            <a:ext cx="4634379" cy="6858000"/>
          </a:xfrm>
          <a:prstGeom prst="rect">
            <a:avLst/>
          </a:prstGeom>
        </p:spPr>
      </p:pic>
      <p:sp>
        <p:nvSpPr>
          <p:cNvPr id="2" name="Title 2">
            <a:extLst>
              <a:ext uri="{FF2B5EF4-FFF2-40B4-BE49-F238E27FC236}">
                <a16:creationId xmlns:a16="http://schemas.microsoft.com/office/drawing/2014/main" id="{4878CCD7-FD0F-091B-77F6-B9DED0E05235}"/>
              </a:ext>
            </a:extLst>
          </p:cNvPr>
          <p:cNvSpPr txBox="1">
            <a:spLocks/>
          </p:cNvSpPr>
          <p:nvPr/>
        </p:nvSpPr>
        <p:spPr>
          <a:xfrm>
            <a:off x="4989808" y="1066800"/>
            <a:ext cx="3924300" cy="3855633"/>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venir Heavy"/>
                <a:cs typeface="Avenir Heavy"/>
              </a:rPr>
              <a:t>The challenge: Girls / women have lower self efficacy than boys / men. </a:t>
            </a:r>
          </a:p>
          <a:p>
            <a:endParaRPr lang="en-US" b="1" dirty="0">
              <a:latin typeface="Avenir Heavy"/>
              <a:cs typeface="Avenir Heavy"/>
            </a:endParaRPr>
          </a:p>
          <a:p>
            <a:r>
              <a:rPr lang="en-US" b="1" dirty="0">
                <a:latin typeface="Avenir Heavy"/>
                <a:cs typeface="Avenir Heavy"/>
              </a:rPr>
              <a:t>*Can start as early as age 11. </a:t>
            </a:r>
          </a:p>
        </p:txBody>
      </p:sp>
    </p:spTree>
    <p:extLst>
      <p:ext uri="{BB962C8B-B14F-4D97-AF65-F5344CB8AC3E}">
        <p14:creationId xmlns:p14="http://schemas.microsoft.com/office/powerpoint/2010/main" val="372309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9E250-1FBD-5CB6-106E-2B563DF7A20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BEF9A8-3414-ADDC-5DE4-3813FD9A4C65}"/>
              </a:ext>
            </a:extLst>
          </p:cNvPr>
          <p:cNvSpPr>
            <a:spLocks noGrp="1"/>
          </p:cNvSpPr>
          <p:nvPr>
            <p:ph type="sldNum" sz="quarter" idx="14"/>
          </p:nvPr>
        </p:nvSpPr>
        <p:spPr/>
        <p:txBody>
          <a:bodyPr/>
          <a:lstStyle/>
          <a:p>
            <a:pPr>
              <a:defRPr/>
            </a:pPr>
            <a:fld id="{F8741D65-C386-044D-887D-07A47F83AF09}" type="slidenum">
              <a:rPr lang="en-US" smtClean="0"/>
              <a:pPr>
                <a:defRPr/>
              </a:pPr>
              <a:t>5</a:t>
            </a:fld>
            <a:endParaRPr lang="en-US"/>
          </a:p>
        </p:txBody>
      </p:sp>
      <p:sp>
        <p:nvSpPr>
          <p:cNvPr id="10" name="Rectangle 3">
            <a:extLst>
              <a:ext uri="{FF2B5EF4-FFF2-40B4-BE49-F238E27FC236}">
                <a16:creationId xmlns:a16="http://schemas.microsoft.com/office/drawing/2014/main" id="{DEC43550-5E00-987B-49AE-32C9F9D55C74}"/>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None/>
            </a:pPr>
            <a:r>
              <a:rPr lang="en-US" sz="3600" b="1" dirty="0">
                <a:latin typeface="Avenir Black" panose="02000503020000020003" pitchFamily="2" charset="0"/>
              </a:rPr>
              <a:t>Men apply for a job when they meet only 60% of the qualifications, but women apply only if they meet 100% of them.</a:t>
            </a:r>
          </a:p>
          <a:p>
            <a:pPr algn="ctr">
              <a:buNone/>
            </a:pPr>
            <a:endParaRPr lang="en-US" sz="3600" b="1" dirty="0">
              <a:solidFill>
                <a:schemeClr val="tx1">
                  <a:lumMod val="50000"/>
                  <a:lumOff val="50000"/>
                </a:schemeClr>
              </a:solidFill>
              <a:latin typeface="Avenir Black" panose="02000503020000020003" pitchFamily="2" charset="0"/>
              <a:ea typeface="+mj-ea"/>
            </a:endParaRPr>
          </a:p>
          <a:p>
            <a:pPr>
              <a:buNone/>
            </a:pPr>
            <a:r>
              <a:rPr lang="en-US" sz="1400" b="1" dirty="0">
                <a:solidFill>
                  <a:schemeClr val="tx1">
                    <a:lumMod val="50000"/>
                    <a:lumOff val="50000"/>
                  </a:schemeClr>
                </a:solidFill>
                <a:latin typeface="Avenir Black" panose="02000503020000020003" pitchFamily="2" charset="0"/>
                <a:ea typeface="+mj-ea"/>
              </a:rPr>
              <a:t>Source: HP Internal Report</a:t>
            </a:r>
          </a:p>
        </p:txBody>
      </p:sp>
      <p:pic>
        <p:nvPicPr>
          <p:cNvPr id="3" name="Picture 2" descr="A picture containing hydrozoan&#10;&#10;Description automatically generated">
            <a:extLst>
              <a:ext uri="{FF2B5EF4-FFF2-40B4-BE49-F238E27FC236}">
                <a16:creationId xmlns:a16="http://schemas.microsoft.com/office/drawing/2014/main" id="{036BCB7A-25C2-3725-ACFC-6C0FB544C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12" y="0"/>
            <a:ext cx="4634379" cy="6858000"/>
          </a:xfrm>
          <a:prstGeom prst="rect">
            <a:avLst/>
          </a:prstGeom>
        </p:spPr>
      </p:pic>
    </p:spTree>
    <p:extLst>
      <p:ext uri="{BB962C8B-B14F-4D97-AF65-F5344CB8AC3E}">
        <p14:creationId xmlns:p14="http://schemas.microsoft.com/office/powerpoint/2010/main" val="37908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9F3E4-F5BA-8F47-CD46-DF5A162C236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5EB94B5-E6FE-BA67-797F-6B8C90416660}"/>
              </a:ext>
            </a:extLst>
          </p:cNvPr>
          <p:cNvSpPr>
            <a:spLocks noGrp="1"/>
          </p:cNvSpPr>
          <p:nvPr>
            <p:ph type="sldNum" sz="quarter" idx="14"/>
          </p:nvPr>
        </p:nvSpPr>
        <p:spPr/>
        <p:txBody>
          <a:bodyPr/>
          <a:lstStyle/>
          <a:p>
            <a:pPr>
              <a:defRPr/>
            </a:pPr>
            <a:fld id="{F8741D65-C386-044D-887D-07A47F83AF09}" type="slidenum">
              <a:rPr lang="en-US" smtClean="0"/>
              <a:pPr>
                <a:defRPr/>
              </a:pPr>
              <a:t>6</a:t>
            </a:fld>
            <a:endParaRPr lang="en-US"/>
          </a:p>
        </p:txBody>
      </p:sp>
      <p:pic>
        <p:nvPicPr>
          <p:cNvPr id="3" name="Picture 2" descr="A picture containing hydrozoan&#10;&#10;Description automatically generated">
            <a:extLst>
              <a:ext uri="{FF2B5EF4-FFF2-40B4-BE49-F238E27FC236}">
                <a16:creationId xmlns:a16="http://schemas.microsoft.com/office/drawing/2014/main" id="{F4B3D825-36EB-2DF1-07E0-D2B189D73F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12" y="0"/>
            <a:ext cx="4634379" cy="6858000"/>
          </a:xfrm>
          <a:prstGeom prst="rect">
            <a:avLst/>
          </a:prstGeom>
        </p:spPr>
      </p:pic>
      <p:sp>
        <p:nvSpPr>
          <p:cNvPr id="2" name="Title 2">
            <a:extLst>
              <a:ext uri="{FF2B5EF4-FFF2-40B4-BE49-F238E27FC236}">
                <a16:creationId xmlns:a16="http://schemas.microsoft.com/office/drawing/2014/main" id="{1153B9DC-B131-024E-393F-0191CF1942BF}"/>
              </a:ext>
            </a:extLst>
          </p:cNvPr>
          <p:cNvSpPr txBox="1">
            <a:spLocks/>
          </p:cNvSpPr>
          <p:nvPr/>
        </p:nvSpPr>
        <p:spPr>
          <a:xfrm>
            <a:off x="4989808" y="1066800"/>
            <a:ext cx="3924300" cy="3855633"/>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latin typeface="Avenir Heavy"/>
                <a:cs typeface="Avenir Heavy"/>
              </a:rPr>
              <a:t>2/3 female CEOs didn’t think of being CEO until someone mentioned it. </a:t>
            </a:r>
          </a:p>
        </p:txBody>
      </p:sp>
      <p:pic>
        <p:nvPicPr>
          <p:cNvPr id="4" name="Picture 3" descr="Screen Shot 2018-06-12 at 9.47.18 AM.png">
            <a:extLst>
              <a:ext uri="{FF2B5EF4-FFF2-40B4-BE49-F238E27FC236}">
                <a16:creationId xmlns:a16="http://schemas.microsoft.com/office/drawing/2014/main" id="{5342A934-8FCC-B081-6FE9-6F4DA9D3F7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5658" y="4934489"/>
            <a:ext cx="1752600" cy="883833"/>
          </a:xfrm>
          <a:prstGeom prst="rect">
            <a:avLst/>
          </a:prstGeom>
        </p:spPr>
      </p:pic>
    </p:spTree>
    <p:extLst>
      <p:ext uri="{BB962C8B-B14F-4D97-AF65-F5344CB8AC3E}">
        <p14:creationId xmlns:p14="http://schemas.microsoft.com/office/powerpoint/2010/main" val="298398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fish swimming in the water&#10;&#10;Description automatically generated with low confidence">
            <a:extLst>
              <a:ext uri="{FF2B5EF4-FFF2-40B4-BE49-F238E27FC236}">
                <a16:creationId xmlns:a16="http://schemas.microsoft.com/office/drawing/2014/main" id="{4271D9B7-3636-3A47-85CE-C941583172C2}"/>
              </a:ext>
            </a:extLst>
          </p:cNvPr>
          <p:cNvPicPr>
            <a:picLocks noChangeAspect="1"/>
          </p:cNvPicPr>
          <p:nvPr/>
        </p:nvPicPr>
        <p:blipFill rotWithShape="1">
          <a:blip r:embed="rId2">
            <a:extLst>
              <a:ext uri="{28A0092B-C50C-407E-A947-70E740481C1C}">
                <a14:useLocalDpi xmlns:a14="http://schemas.microsoft.com/office/drawing/2010/main" val="0"/>
              </a:ext>
            </a:extLst>
          </a:blip>
          <a:srcRect b="2222"/>
          <a:stretch/>
        </p:blipFill>
        <p:spPr>
          <a:xfrm>
            <a:off x="0" y="0"/>
            <a:ext cx="9144000" cy="6884233"/>
          </a:xfrm>
          <a:prstGeom prst="rect">
            <a:avLst/>
          </a:prstGeom>
        </p:spPr>
      </p:pic>
      <p:sp>
        <p:nvSpPr>
          <p:cNvPr id="4" name="Slide Number Placeholder 3">
            <a:extLst>
              <a:ext uri="{FF2B5EF4-FFF2-40B4-BE49-F238E27FC236}">
                <a16:creationId xmlns:a16="http://schemas.microsoft.com/office/drawing/2014/main" id="{0A57B0D7-B20D-D149-BFCB-339BF6976DD6}"/>
              </a:ext>
            </a:extLst>
          </p:cNvPr>
          <p:cNvSpPr>
            <a:spLocks noGrp="1"/>
          </p:cNvSpPr>
          <p:nvPr>
            <p:ph type="sldNum" sz="quarter" idx="14"/>
          </p:nvPr>
        </p:nvSpPr>
        <p:spPr/>
        <p:txBody>
          <a:bodyPr/>
          <a:lstStyle/>
          <a:p>
            <a:pPr>
              <a:defRPr/>
            </a:pPr>
            <a:fld id="{F8741D65-C386-044D-887D-07A47F83AF09}" type="slidenum">
              <a:rPr lang="en-US" smtClean="0"/>
              <a:pPr>
                <a:defRPr/>
              </a:pPr>
              <a:t>7</a:t>
            </a:fld>
            <a:endParaRPr lang="en-US"/>
          </a:p>
        </p:txBody>
      </p:sp>
      <p:sp>
        <p:nvSpPr>
          <p:cNvPr id="5" name="Title 2">
            <a:extLst>
              <a:ext uri="{FF2B5EF4-FFF2-40B4-BE49-F238E27FC236}">
                <a16:creationId xmlns:a16="http://schemas.microsoft.com/office/drawing/2014/main" id="{8B7C9429-2AFB-C641-B115-7EE6160D4547}"/>
              </a:ext>
            </a:extLst>
          </p:cNvPr>
          <p:cNvSpPr txBox="1">
            <a:spLocks/>
          </p:cNvSpPr>
          <p:nvPr/>
        </p:nvSpPr>
        <p:spPr>
          <a:xfrm>
            <a:off x="4267200" y="-303044"/>
            <a:ext cx="5029200" cy="324603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6600" b="1" dirty="0">
                <a:solidFill>
                  <a:srgbClr val="1A98CB"/>
                </a:solidFill>
                <a:latin typeface="Avenir Heavy"/>
                <a:cs typeface="Avenir Heavy"/>
              </a:rPr>
              <a:t> </a:t>
            </a:r>
            <a:r>
              <a:rPr lang="en-US" sz="4800" b="1" dirty="0">
                <a:latin typeface="Avenir Heavy"/>
                <a:cs typeface="Avenir Heavy"/>
              </a:rPr>
              <a:t>Break the Research</a:t>
            </a:r>
          </a:p>
          <a:p>
            <a:endParaRPr lang="en-US" sz="6600" b="1" dirty="0">
              <a:solidFill>
                <a:srgbClr val="1A98CB"/>
              </a:solidFill>
              <a:latin typeface="Avenir Heavy"/>
              <a:cs typeface="Avenir Heavy"/>
            </a:endParaRPr>
          </a:p>
        </p:txBody>
      </p:sp>
    </p:spTree>
    <p:extLst>
      <p:ext uri="{BB962C8B-B14F-4D97-AF65-F5344CB8AC3E}">
        <p14:creationId xmlns:p14="http://schemas.microsoft.com/office/powerpoint/2010/main" val="1474175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4"/>
          </p:nvPr>
        </p:nvSpPr>
        <p:spPr/>
        <p:txBody>
          <a:bodyPr/>
          <a:lstStyle/>
          <a:p>
            <a:pPr>
              <a:defRPr/>
            </a:pPr>
            <a:fld id="{F8741D65-C386-044D-887D-07A47F83AF09}" type="slidenum">
              <a:rPr lang="en-US" smtClean="0"/>
              <a:pPr>
                <a:defRPr/>
              </a:pPr>
              <a:t>8</a:t>
            </a:fld>
            <a:endParaRPr lang="en-US"/>
          </a:p>
        </p:txBody>
      </p:sp>
      <p:sp>
        <p:nvSpPr>
          <p:cNvPr id="10" name="Rectangle 3">
            <a:extLst>
              <a:ext uri="{FF2B5EF4-FFF2-40B4-BE49-F238E27FC236}">
                <a16:creationId xmlns:a16="http://schemas.microsoft.com/office/drawing/2014/main" id="{228BED1C-8FCC-8649-8627-747CAF7D32D7}"/>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indent="-742950">
              <a:buAutoNum type="arabicPeriod"/>
            </a:pPr>
            <a:endParaRPr lang="en-US" sz="3600" b="1" dirty="0">
              <a:solidFill>
                <a:schemeClr val="tx1">
                  <a:lumMod val="50000"/>
                  <a:lumOff val="50000"/>
                </a:schemeClr>
              </a:solidFill>
              <a:latin typeface="Avenir Black" panose="02000503020000020003" pitchFamily="2" charset="0"/>
              <a:ea typeface="+mj-ea"/>
            </a:endParaRPr>
          </a:p>
        </p:txBody>
      </p:sp>
      <p:sp>
        <p:nvSpPr>
          <p:cNvPr id="9" name="Content Placeholder 2">
            <a:extLst>
              <a:ext uri="{FF2B5EF4-FFF2-40B4-BE49-F238E27FC236}">
                <a16:creationId xmlns:a16="http://schemas.microsoft.com/office/drawing/2014/main" id="{087697F3-EC48-2E44-970A-1AF05CD026BD}"/>
              </a:ext>
            </a:extLst>
          </p:cNvPr>
          <p:cNvSpPr>
            <a:spLocks noGrp="1"/>
          </p:cNvSpPr>
          <p:nvPr>
            <p:ph idx="13"/>
          </p:nvPr>
        </p:nvSpPr>
        <p:spPr>
          <a:xfrm>
            <a:off x="4867275" y="1020002"/>
            <a:ext cx="4038600" cy="4114800"/>
          </a:xfrm>
        </p:spPr>
        <p:txBody>
          <a:bodyPr/>
          <a:lstStyle/>
          <a:p>
            <a:pPr marL="0" indent="0">
              <a:spcBef>
                <a:spcPct val="55000"/>
              </a:spcBef>
              <a:buNone/>
            </a:pPr>
            <a:endParaRPr lang="en-US" b="1" dirty="0">
              <a:latin typeface="Avenir Black" panose="02000503020000020003" pitchFamily="2" charset="0"/>
              <a:cs typeface="Avenir Book"/>
            </a:endParaRPr>
          </a:p>
          <a:p>
            <a:pPr marL="0" indent="0" algn="ctr">
              <a:spcBef>
                <a:spcPct val="55000"/>
              </a:spcBef>
              <a:buNone/>
            </a:pPr>
            <a:r>
              <a:rPr lang="en-US" b="1" dirty="0">
                <a:latin typeface="Avenir Black" panose="02000503020000020003" pitchFamily="2" charset="0"/>
                <a:cs typeface="Avenir Book"/>
              </a:rPr>
              <a:t>Women negotiated higher than male counterparts when acting on behalf of others </a:t>
            </a:r>
          </a:p>
          <a:p>
            <a:pPr marL="0" indent="0" algn="r">
              <a:spcBef>
                <a:spcPct val="55000"/>
              </a:spcBef>
              <a:buNone/>
            </a:pPr>
            <a:endParaRPr lang="en-US" sz="2000" dirty="0">
              <a:latin typeface="Avenir Book"/>
              <a:cs typeface="Avenir Book"/>
            </a:endParaRPr>
          </a:p>
          <a:p>
            <a:pPr marL="0" indent="0" algn="r">
              <a:spcBef>
                <a:spcPct val="55000"/>
              </a:spcBef>
              <a:buNone/>
            </a:pPr>
            <a:r>
              <a:rPr lang="en-US" sz="2000" b="1" dirty="0">
                <a:solidFill>
                  <a:schemeClr val="tx1">
                    <a:lumMod val="50000"/>
                    <a:lumOff val="50000"/>
                  </a:schemeClr>
                </a:solidFill>
                <a:latin typeface="Avenir Book"/>
                <a:cs typeface="Avenir Book"/>
              </a:rPr>
              <a:t>Source:</a:t>
            </a:r>
            <a:r>
              <a:rPr lang="en-US" sz="2000" dirty="0">
                <a:latin typeface="Avenir Book"/>
                <a:cs typeface="Avenir Book"/>
              </a:rPr>
              <a:t> </a:t>
            </a:r>
            <a:r>
              <a:rPr lang="en-US" sz="2000" dirty="0">
                <a:latin typeface="Avenir Book"/>
                <a:cs typeface="Avenir Book"/>
                <a:hlinkClick r:id="rId3"/>
              </a:rPr>
              <a:t>Hannah Riley Bowles</a:t>
            </a:r>
            <a:endParaRPr lang="en-US" sz="2000" dirty="0">
              <a:latin typeface="Avenir Book"/>
              <a:cs typeface="Avenir Book"/>
            </a:endParaRPr>
          </a:p>
          <a:p>
            <a:pPr marL="0" indent="0">
              <a:spcBef>
                <a:spcPct val="55000"/>
              </a:spcBef>
              <a:buNone/>
            </a:pPr>
            <a:endParaRPr lang="en-US" sz="2800" dirty="0">
              <a:latin typeface="Avenir Book"/>
              <a:cs typeface="Avenir Book"/>
            </a:endParaRPr>
          </a:p>
          <a:p>
            <a:pPr marL="0" indent="0">
              <a:spcBef>
                <a:spcPct val="55000"/>
              </a:spcBef>
              <a:buNone/>
            </a:pPr>
            <a:endParaRPr lang="en-US" sz="2800" dirty="0">
              <a:latin typeface="Avenir Book"/>
              <a:cs typeface="Avenir Book"/>
            </a:endParaRPr>
          </a:p>
          <a:p>
            <a:endParaRPr lang="en-US" dirty="0">
              <a:latin typeface="Avenir Book"/>
              <a:cs typeface="Avenir Book"/>
            </a:endParaRPr>
          </a:p>
        </p:txBody>
      </p:sp>
      <p:pic>
        <p:nvPicPr>
          <p:cNvPr id="11" name="Picture 10" descr="A picture containing blur&#10;&#10;Description automatically generated">
            <a:extLst>
              <a:ext uri="{FF2B5EF4-FFF2-40B4-BE49-F238E27FC236}">
                <a16:creationId xmlns:a16="http://schemas.microsoft.com/office/drawing/2014/main" id="{4A1421F5-8BDE-3549-BF5B-9260255DAA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3" y="0"/>
            <a:ext cx="4635604" cy="6858000"/>
          </a:xfrm>
          <a:prstGeom prst="rect">
            <a:avLst/>
          </a:prstGeom>
        </p:spPr>
      </p:pic>
    </p:spTree>
    <p:extLst>
      <p:ext uri="{BB962C8B-B14F-4D97-AF65-F5344CB8AC3E}">
        <p14:creationId xmlns:p14="http://schemas.microsoft.com/office/powerpoint/2010/main" val="3821324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39B4-C680-BF88-D3BD-E594CB4EA04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15FDE4B-A86C-C949-6AF6-83A66D8F6609}"/>
              </a:ext>
            </a:extLst>
          </p:cNvPr>
          <p:cNvSpPr>
            <a:spLocks noGrp="1"/>
          </p:cNvSpPr>
          <p:nvPr>
            <p:ph type="sldNum" sz="quarter" idx="14"/>
          </p:nvPr>
        </p:nvSpPr>
        <p:spPr/>
        <p:txBody>
          <a:bodyPr/>
          <a:lstStyle/>
          <a:p>
            <a:pPr>
              <a:defRPr/>
            </a:pPr>
            <a:fld id="{F8741D65-C386-044D-887D-07A47F83AF09}" type="slidenum">
              <a:rPr lang="en-US" smtClean="0"/>
              <a:pPr>
                <a:defRPr/>
              </a:pPr>
              <a:t>9</a:t>
            </a:fld>
            <a:endParaRPr lang="en-US"/>
          </a:p>
        </p:txBody>
      </p:sp>
      <p:sp>
        <p:nvSpPr>
          <p:cNvPr id="10" name="Rectangle 3">
            <a:extLst>
              <a:ext uri="{FF2B5EF4-FFF2-40B4-BE49-F238E27FC236}">
                <a16:creationId xmlns:a16="http://schemas.microsoft.com/office/drawing/2014/main" id="{3D51F61C-53BD-03DD-DD5F-E91A7897F92F}"/>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indent="-742950">
              <a:buAutoNum type="arabicPeriod"/>
            </a:pPr>
            <a:endParaRPr lang="en-US" sz="3600" b="1" dirty="0">
              <a:solidFill>
                <a:schemeClr val="tx1">
                  <a:lumMod val="50000"/>
                  <a:lumOff val="50000"/>
                </a:schemeClr>
              </a:solidFill>
              <a:latin typeface="Avenir Black" panose="02000503020000020003" pitchFamily="2" charset="0"/>
              <a:ea typeface="+mj-ea"/>
            </a:endParaRPr>
          </a:p>
        </p:txBody>
      </p:sp>
      <p:sp>
        <p:nvSpPr>
          <p:cNvPr id="9" name="Content Placeholder 2">
            <a:extLst>
              <a:ext uri="{FF2B5EF4-FFF2-40B4-BE49-F238E27FC236}">
                <a16:creationId xmlns:a16="http://schemas.microsoft.com/office/drawing/2014/main" id="{EDAA5E4A-4171-ABB5-594C-E594A75A2229}"/>
              </a:ext>
            </a:extLst>
          </p:cNvPr>
          <p:cNvSpPr>
            <a:spLocks noGrp="1"/>
          </p:cNvSpPr>
          <p:nvPr>
            <p:ph idx="13"/>
          </p:nvPr>
        </p:nvSpPr>
        <p:spPr>
          <a:xfrm>
            <a:off x="4813852" y="1936984"/>
            <a:ext cx="4038600" cy="4114800"/>
          </a:xfrm>
        </p:spPr>
        <p:txBody>
          <a:bodyPr/>
          <a:lstStyle/>
          <a:p>
            <a:pPr marL="0" indent="0">
              <a:spcBef>
                <a:spcPct val="55000"/>
              </a:spcBef>
              <a:buNone/>
            </a:pPr>
            <a:endParaRPr lang="en-US" b="1" dirty="0">
              <a:latin typeface="Avenir Black" panose="02000503020000020003" pitchFamily="2" charset="0"/>
              <a:cs typeface="Avenir Book"/>
            </a:endParaRPr>
          </a:p>
          <a:p>
            <a:pPr marL="0" indent="0" algn="ctr">
              <a:spcBef>
                <a:spcPct val="55000"/>
              </a:spcBef>
              <a:buNone/>
            </a:pPr>
            <a:r>
              <a:rPr lang="en-US" b="1" dirty="0">
                <a:latin typeface="Avenir Black" panose="02000503020000020003" pitchFamily="2" charset="0"/>
                <a:cs typeface="Avenir Book"/>
              </a:rPr>
              <a:t>Across many studies, women are better leaders. </a:t>
            </a:r>
            <a:endParaRPr lang="en-US" sz="2000" dirty="0">
              <a:latin typeface="Avenir Book"/>
              <a:cs typeface="Avenir Book"/>
            </a:endParaRPr>
          </a:p>
          <a:p>
            <a:pPr marL="0" indent="0">
              <a:spcBef>
                <a:spcPct val="55000"/>
              </a:spcBef>
              <a:buNone/>
            </a:pPr>
            <a:endParaRPr lang="en-US" sz="2800" dirty="0">
              <a:latin typeface="Avenir Book"/>
              <a:cs typeface="Avenir Book"/>
            </a:endParaRPr>
          </a:p>
          <a:p>
            <a:pPr marL="0" indent="0">
              <a:spcBef>
                <a:spcPct val="55000"/>
              </a:spcBef>
              <a:buNone/>
            </a:pPr>
            <a:endParaRPr lang="en-US" sz="2800" dirty="0">
              <a:latin typeface="Avenir Book"/>
              <a:cs typeface="Avenir Book"/>
            </a:endParaRPr>
          </a:p>
          <a:p>
            <a:endParaRPr lang="en-US" dirty="0">
              <a:latin typeface="Avenir Book"/>
              <a:cs typeface="Avenir Book"/>
            </a:endParaRPr>
          </a:p>
        </p:txBody>
      </p:sp>
      <p:pic>
        <p:nvPicPr>
          <p:cNvPr id="11" name="Picture 10" descr="A picture containing blur&#10;&#10;Description automatically generated">
            <a:extLst>
              <a:ext uri="{FF2B5EF4-FFF2-40B4-BE49-F238E27FC236}">
                <a16:creationId xmlns:a16="http://schemas.microsoft.com/office/drawing/2014/main" id="{74907185-DDC7-386E-F53F-B5B56AF36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 y="0"/>
            <a:ext cx="4635604" cy="6858000"/>
          </a:xfrm>
          <a:prstGeom prst="rect">
            <a:avLst/>
          </a:prstGeom>
        </p:spPr>
      </p:pic>
      <p:pic>
        <p:nvPicPr>
          <p:cNvPr id="3" name="Picture 2" descr="A close-up of a text&#10;&#10;AI-generated content may be incorrect.">
            <a:extLst>
              <a:ext uri="{FF2B5EF4-FFF2-40B4-BE49-F238E27FC236}">
                <a16:creationId xmlns:a16="http://schemas.microsoft.com/office/drawing/2014/main" id="{5877E3FD-D80A-4450-8110-832E7068BB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25884">
            <a:off x="875973" y="5155869"/>
            <a:ext cx="4254931" cy="89657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6A5404DB-39FA-CE5C-D844-6367C396CC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338761">
            <a:off x="342050" y="558376"/>
            <a:ext cx="4038601" cy="2757217"/>
          </a:xfrm>
          <a:prstGeom prst="rect">
            <a:avLst/>
          </a:prstGeom>
        </p:spPr>
      </p:pic>
    </p:spTree>
    <p:extLst>
      <p:ext uri="{BB962C8B-B14F-4D97-AF65-F5344CB8AC3E}">
        <p14:creationId xmlns:p14="http://schemas.microsoft.com/office/powerpoint/2010/main" val="362968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0262-D53C-A41D-0DBA-25A2B023169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920195D-3E4C-7619-46C6-493D443B22EB}"/>
              </a:ext>
            </a:extLst>
          </p:cNvPr>
          <p:cNvSpPr>
            <a:spLocks noGrp="1"/>
          </p:cNvSpPr>
          <p:nvPr>
            <p:ph type="sldNum" sz="quarter" idx="14"/>
          </p:nvPr>
        </p:nvSpPr>
        <p:spPr/>
        <p:txBody>
          <a:bodyPr/>
          <a:lstStyle/>
          <a:p>
            <a:pPr>
              <a:defRPr/>
            </a:pPr>
            <a:fld id="{F8741D65-C386-044D-887D-07A47F83AF09}" type="slidenum">
              <a:rPr lang="en-US" smtClean="0"/>
              <a:pPr>
                <a:defRPr/>
              </a:pPr>
              <a:t>10</a:t>
            </a:fld>
            <a:endParaRPr lang="en-US"/>
          </a:p>
        </p:txBody>
      </p:sp>
      <p:sp>
        <p:nvSpPr>
          <p:cNvPr id="10" name="Rectangle 3">
            <a:extLst>
              <a:ext uri="{FF2B5EF4-FFF2-40B4-BE49-F238E27FC236}">
                <a16:creationId xmlns:a16="http://schemas.microsoft.com/office/drawing/2014/main" id="{3E5E0846-0ACE-9136-F38A-68EEF59BD6B9}"/>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indent="-742950">
              <a:buAutoNum type="arabicPeriod"/>
            </a:pPr>
            <a:endParaRPr lang="en-US" sz="3600" b="1" dirty="0">
              <a:solidFill>
                <a:schemeClr val="tx1">
                  <a:lumMod val="50000"/>
                  <a:lumOff val="50000"/>
                </a:schemeClr>
              </a:solidFill>
              <a:latin typeface="Avenir Black" panose="02000503020000020003" pitchFamily="2" charset="0"/>
              <a:ea typeface="+mj-ea"/>
            </a:endParaRPr>
          </a:p>
        </p:txBody>
      </p:sp>
      <p:sp>
        <p:nvSpPr>
          <p:cNvPr id="9" name="Content Placeholder 2">
            <a:extLst>
              <a:ext uri="{FF2B5EF4-FFF2-40B4-BE49-F238E27FC236}">
                <a16:creationId xmlns:a16="http://schemas.microsoft.com/office/drawing/2014/main" id="{E9A068C2-B1E7-2ADD-DA79-850D94700426}"/>
              </a:ext>
            </a:extLst>
          </p:cNvPr>
          <p:cNvSpPr>
            <a:spLocks noGrp="1"/>
          </p:cNvSpPr>
          <p:nvPr>
            <p:ph idx="13"/>
          </p:nvPr>
        </p:nvSpPr>
        <p:spPr>
          <a:xfrm>
            <a:off x="4867275" y="1020002"/>
            <a:ext cx="4038600" cy="4114800"/>
          </a:xfrm>
        </p:spPr>
        <p:txBody>
          <a:bodyPr/>
          <a:lstStyle/>
          <a:p>
            <a:pPr marL="0" indent="0">
              <a:spcBef>
                <a:spcPct val="55000"/>
              </a:spcBef>
              <a:buNone/>
            </a:pPr>
            <a:endParaRPr lang="en-US" b="1" dirty="0">
              <a:latin typeface="Avenir Black" panose="02000503020000020003" pitchFamily="2" charset="0"/>
              <a:cs typeface="Avenir Book"/>
            </a:endParaRPr>
          </a:p>
          <a:p>
            <a:pPr marL="0" indent="0" algn="ctr">
              <a:spcBef>
                <a:spcPct val="55000"/>
              </a:spcBef>
              <a:buNone/>
            </a:pPr>
            <a:r>
              <a:rPr lang="en-US" b="1" dirty="0">
                <a:latin typeface="Avenir Black" panose="02000503020000020003" pitchFamily="2" charset="0"/>
                <a:cs typeface="Avenir Book"/>
              </a:rPr>
              <a:t>Access to mentors and role models shown to entrepreneurial increase self-efficacy for women (5 = minimum number)</a:t>
            </a:r>
          </a:p>
          <a:p>
            <a:pPr marL="0" indent="0" algn="r">
              <a:spcBef>
                <a:spcPct val="55000"/>
              </a:spcBef>
              <a:buNone/>
            </a:pPr>
            <a:endParaRPr lang="en-US" sz="2000" dirty="0">
              <a:latin typeface="Avenir Book"/>
              <a:cs typeface="Avenir Book"/>
            </a:endParaRPr>
          </a:p>
          <a:p>
            <a:pPr marL="0" indent="0">
              <a:spcBef>
                <a:spcPct val="55000"/>
              </a:spcBef>
              <a:buNone/>
            </a:pPr>
            <a:endParaRPr lang="en-US" sz="2800" dirty="0">
              <a:latin typeface="Avenir Book"/>
              <a:cs typeface="Avenir Book"/>
            </a:endParaRPr>
          </a:p>
          <a:p>
            <a:pPr marL="0" indent="0">
              <a:spcBef>
                <a:spcPct val="55000"/>
              </a:spcBef>
              <a:buNone/>
            </a:pPr>
            <a:endParaRPr lang="en-US" sz="2800" dirty="0">
              <a:latin typeface="Avenir Book"/>
              <a:cs typeface="Avenir Book"/>
            </a:endParaRPr>
          </a:p>
          <a:p>
            <a:endParaRPr lang="en-US" dirty="0">
              <a:latin typeface="Avenir Book"/>
              <a:cs typeface="Avenir Book"/>
            </a:endParaRPr>
          </a:p>
        </p:txBody>
      </p:sp>
      <p:pic>
        <p:nvPicPr>
          <p:cNvPr id="11" name="Picture 10" descr="A picture containing blur&#10;&#10;Description automatically generated">
            <a:extLst>
              <a:ext uri="{FF2B5EF4-FFF2-40B4-BE49-F238E27FC236}">
                <a16:creationId xmlns:a16="http://schemas.microsoft.com/office/drawing/2014/main" id="{D4AFA8BC-FDD7-286D-22A3-5A3ACC8AF7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 y="0"/>
            <a:ext cx="4635604" cy="6858000"/>
          </a:xfrm>
          <a:prstGeom prst="rect">
            <a:avLst/>
          </a:prstGeom>
        </p:spPr>
      </p:pic>
    </p:spTree>
    <p:extLst>
      <p:ext uri="{BB962C8B-B14F-4D97-AF65-F5344CB8AC3E}">
        <p14:creationId xmlns:p14="http://schemas.microsoft.com/office/powerpoint/2010/main" val="160604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5" descr="Long shot of a conference room&#10;&#10;AI-generated content may be incorrect.">
            <a:extLst>
              <a:ext uri="{FF2B5EF4-FFF2-40B4-BE49-F238E27FC236}">
                <a16:creationId xmlns:a16="http://schemas.microsoft.com/office/drawing/2014/main" id="{4F7FDC48-CCEB-2830-F113-EF6F025D7AD1}"/>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0882" b="16632"/>
          <a:stretch/>
        </p:blipFill>
        <p:spPr>
          <a:xfrm>
            <a:off x="4011" y="0"/>
            <a:ext cx="9144000" cy="6858000"/>
          </a:xfrm>
          <a:noFill/>
        </p:spPr>
      </p:pic>
      <p:sp>
        <p:nvSpPr>
          <p:cNvPr id="4" name="Slide Number Placeholder 3">
            <a:extLst>
              <a:ext uri="{FF2B5EF4-FFF2-40B4-BE49-F238E27FC236}">
                <a16:creationId xmlns:a16="http://schemas.microsoft.com/office/drawing/2014/main" id="{205B552D-E210-9252-E71F-85BAE790354B}"/>
              </a:ext>
            </a:extLst>
          </p:cNvPr>
          <p:cNvSpPr>
            <a:spLocks noGrp="1"/>
          </p:cNvSpPr>
          <p:nvPr>
            <p:ph type="sldNum" sz="quarter" idx="12"/>
          </p:nvPr>
        </p:nvSpPr>
        <p:spPr/>
        <p:txBody>
          <a:bodyPr/>
          <a:lstStyle/>
          <a:p>
            <a:fld id="{759DE5CE-A7EA-4D46-8A18-019F15EB7A0D}" type="slidenum">
              <a:rPr lang="en-US" smtClean="0"/>
              <a:t>11</a:t>
            </a:fld>
            <a:endParaRPr lang="en-US"/>
          </a:p>
        </p:txBody>
      </p:sp>
      <p:pic>
        <p:nvPicPr>
          <p:cNvPr id="6" name="Picture 5" descr="A group of women in a video conference&#10;&#10;AI-generated content may be incorrect.">
            <a:extLst>
              <a:ext uri="{FF2B5EF4-FFF2-40B4-BE49-F238E27FC236}">
                <a16:creationId xmlns:a16="http://schemas.microsoft.com/office/drawing/2014/main" id="{282479C5-B880-97C6-9407-4F67DC6927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1451397"/>
            <a:ext cx="7772400" cy="4420181"/>
          </a:xfrm>
          <a:prstGeom prst="rect">
            <a:avLst/>
          </a:prstGeom>
        </p:spPr>
      </p:pic>
      <p:sp>
        <p:nvSpPr>
          <p:cNvPr id="7" name="Rounded Rectangle 6">
            <a:extLst>
              <a:ext uri="{FF2B5EF4-FFF2-40B4-BE49-F238E27FC236}">
                <a16:creationId xmlns:a16="http://schemas.microsoft.com/office/drawing/2014/main" id="{0D9B8729-6245-3364-F5A8-4105125AB0A4}"/>
              </a:ext>
            </a:extLst>
          </p:cNvPr>
          <p:cNvSpPr/>
          <p:nvPr/>
        </p:nvSpPr>
        <p:spPr>
          <a:xfrm>
            <a:off x="190500" y="151461"/>
            <a:ext cx="8763000" cy="1079302"/>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77;p16">
            <a:extLst>
              <a:ext uri="{FF2B5EF4-FFF2-40B4-BE49-F238E27FC236}">
                <a16:creationId xmlns:a16="http://schemas.microsoft.com/office/drawing/2014/main" id="{AA1B38D5-EE2C-0AA9-73A5-B180A6473D47}"/>
              </a:ext>
            </a:extLst>
          </p:cNvPr>
          <p:cNvSpPr txBox="1">
            <a:spLocks noGrp="1"/>
          </p:cNvSpPr>
          <p:nvPr>
            <p:ph type="title"/>
          </p:nvPr>
        </p:nvSpPr>
        <p:spPr>
          <a:xfrm>
            <a:off x="401053" y="-263099"/>
            <a:ext cx="8763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4800" b="1" dirty="0">
                <a:latin typeface="Avenir"/>
                <a:ea typeface="Avenir"/>
                <a:cs typeface="Avenir"/>
                <a:sym typeface="Avenir"/>
              </a:rPr>
              <a:t>WHO WANTS TO BE CEO?</a:t>
            </a:r>
            <a:endParaRPr sz="4800" b="1" dirty="0">
              <a:latin typeface="Avenir"/>
              <a:ea typeface="Avenir"/>
              <a:cs typeface="Avenir"/>
              <a:sym typeface="Avenir"/>
            </a:endParaRPr>
          </a:p>
        </p:txBody>
      </p:sp>
      <p:sp>
        <p:nvSpPr>
          <p:cNvPr id="11" name="Footer Placeholder 4">
            <a:extLst>
              <a:ext uri="{FF2B5EF4-FFF2-40B4-BE49-F238E27FC236}">
                <a16:creationId xmlns:a16="http://schemas.microsoft.com/office/drawing/2014/main" id="{593BFF53-CD5D-402D-142D-60667761FE82}"/>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r>
              <a:rPr lang="en-US">
                <a:solidFill>
                  <a:schemeClr val="bg1"/>
                </a:solidFill>
              </a:rPr>
              <a:t>Copyright Katherine Korman Frey </a:t>
            </a:r>
            <a:endParaRPr lang="en-US" sz="1000" dirty="0">
              <a:solidFill>
                <a:schemeClr val="bg1"/>
              </a:solidFill>
            </a:endParaRPr>
          </a:p>
        </p:txBody>
      </p:sp>
    </p:spTree>
    <p:extLst>
      <p:ext uri="{BB962C8B-B14F-4D97-AF65-F5344CB8AC3E}">
        <p14:creationId xmlns:p14="http://schemas.microsoft.com/office/powerpoint/2010/main" val="3449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02316-E424-2D4D-0B1D-2E6AE30B8EB2}"/>
            </a:ext>
          </a:extLst>
        </p:cNvPr>
        <p:cNvGrpSpPr/>
        <p:nvPr/>
      </p:nvGrpSpPr>
      <p:grpSpPr>
        <a:xfrm>
          <a:off x="0" y="0"/>
          <a:ext cx="0" cy="0"/>
          <a:chOff x="0" y="0"/>
          <a:chExt cx="0" cy="0"/>
        </a:xfrm>
      </p:grpSpPr>
      <p:pic>
        <p:nvPicPr>
          <p:cNvPr id="7" name="Picture 6" descr="A group of fish swimming in the water&#10;&#10;Description automatically generated with low confidence">
            <a:extLst>
              <a:ext uri="{FF2B5EF4-FFF2-40B4-BE49-F238E27FC236}">
                <a16:creationId xmlns:a16="http://schemas.microsoft.com/office/drawing/2014/main" id="{40A170AF-FD53-C556-413A-C73081543CE8}"/>
              </a:ext>
            </a:extLst>
          </p:cNvPr>
          <p:cNvPicPr>
            <a:picLocks noChangeAspect="1"/>
          </p:cNvPicPr>
          <p:nvPr/>
        </p:nvPicPr>
        <p:blipFill rotWithShape="1">
          <a:blip r:embed="rId2">
            <a:extLst>
              <a:ext uri="{28A0092B-C50C-407E-A947-70E740481C1C}">
                <a14:useLocalDpi xmlns:a14="http://schemas.microsoft.com/office/drawing/2010/main" val="0"/>
              </a:ext>
            </a:extLst>
          </a:blip>
          <a:srcRect b="2222"/>
          <a:stretch/>
        </p:blipFill>
        <p:spPr>
          <a:xfrm>
            <a:off x="0" y="0"/>
            <a:ext cx="9144000" cy="6884233"/>
          </a:xfrm>
          <a:prstGeom prst="rect">
            <a:avLst/>
          </a:prstGeom>
        </p:spPr>
      </p:pic>
      <p:sp>
        <p:nvSpPr>
          <p:cNvPr id="4" name="Slide Number Placeholder 3">
            <a:extLst>
              <a:ext uri="{FF2B5EF4-FFF2-40B4-BE49-F238E27FC236}">
                <a16:creationId xmlns:a16="http://schemas.microsoft.com/office/drawing/2014/main" id="{08532A17-82AB-4112-47C6-100649433085}"/>
              </a:ext>
            </a:extLst>
          </p:cNvPr>
          <p:cNvSpPr>
            <a:spLocks noGrp="1"/>
          </p:cNvSpPr>
          <p:nvPr>
            <p:ph type="sldNum" sz="quarter" idx="14"/>
          </p:nvPr>
        </p:nvSpPr>
        <p:spPr/>
        <p:txBody>
          <a:bodyPr/>
          <a:lstStyle/>
          <a:p>
            <a:pPr>
              <a:defRPr/>
            </a:pPr>
            <a:fld id="{F8741D65-C386-044D-887D-07A47F83AF09}" type="slidenum">
              <a:rPr lang="en-US" smtClean="0"/>
              <a:pPr>
                <a:defRPr/>
              </a:pPr>
              <a:t>12</a:t>
            </a:fld>
            <a:endParaRPr lang="en-US"/>
          </a:p>
        </p:txBody>
      </p:sp>
      <p:sp>
        <p:nvSpPr>
          <p:cNvPr id="5" name="Title 2">
            <a:extLst>
              <a:ext uri="{FF2B5EF4-FFF2-40B4-BE49-F238E27FC236}">
                <a16:creationId xmlns:a16="http://schemas.microsoft.com/office/drawing/2014/main" id="{5565B4DA-83A9-6727-BBAE-C6631B6FAEFC}"/>
              </a:ext>
            </a:extLst>
          </p:cNvPr>
          <p:cNvSpPr txBox="1">
            <a:spLocks/>
          </p:cNvSpPr>
          <p:nvPr/>
        </p:nvSpPr>
        <p:spPr>
          <a:xfrm>
            <a:off x="4114800" y="685800"/>
            <a:ext cx="5029200" cy="3810000"/>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6600" b="1" dirty="0">
                <a:solidFill>
                  <a:srgbClr val="1A98CB"/>
                </a:solidFill>
                <a:latin typeface="Avenir Heavy"/>
                <a:cs typeface="Avenir Heavy"/>
              </a:rPr>
              <a:t> </a:t>
            </a:r>
            <a:r>
              <a:rPr lang="en-US" sz="4800" b="1" dirty="0">
                <a:latin typeface="Avenir Heavy"/>
                <a:cs typeface="Avenir Heavy"/>
              </a:rPr>
              <a:t>The Revelation:</a:t>
            </a:r>
          </a:p>
          <a:p>
            <a:r>
              <a:rPr lang="en-US" sz="4800" b="1" dirty="0">
                <a:latin typeface="Avenir Heavy"/>
                <a:cs typeface="Avenir Heavy"/>
              </a:rPr>
              <a:t>Q: Want to be CEO?</a:t>
            </a:r>
          </a:p>
          <a:p>
            <a:r>
              <a:rPr lang="en-US" sz="4800" b="1" dirty="0">
                <a:latin typeface="Avenir Heavy"/>
                <a:cs typeface="Avenir Heavy"/>
              </a:rPr>
              <a:t>A: “Yes” with BOA</a:t>
            </a:r>
          </a:p>
          <a:p>
            <a:endParaRPr lang="en-US" sz="6600" b="1" dirty="0">
              <a:solidFill>
                <a:srgbClr val="1A98CB"/>
              </a:solidFill>
              <a:latin typeface="Avenir Heavy"/>
              <a:cs typeface="Avenir Heavy"/>
            </a:endParaRPr>
          </a:p>
        </p:txBody>
      </p:sp>
    </p:spTree>
    <p:extLst>
      <p:ext uri="{BB962C8B-B14F-4D97-AF65-F5344CB8AC3E}">
        <p14:creationId xmlns:p14="http://schemas.microsoft.com/office/powerpoint/2010/main" val="307719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3FEC-BA79-AE98-77CD-ED6704D0D01A}"/>
            </a:ext>
          </a:extLst>
        </p:cNvPr>
        <p:cNvGrpSpPr/>
        <p:nvPr/>
      </p:nvGrpSpPr>
      <p:grpSpPr>
        <a:xfrm>
          <a:off x="0" y="0"/>
          <a:ext cx="0" cy="0"/>
          <a:chOff x="0" y="0"/>
          <a:chExt cx="0" cy="0"/>
        </a:xfrm>
      </p:grpSpPr>
      <p:pic>
        <p:nvPicPr>
          <p:cNvPr id="6" name="Content Placeholder 5" descr="Long shot of a conference room&#10;&#10;AI-generated content may be incorrect.">
            <a:extLst>
              <a:ext uri="{FF2B5EF4-FFF2-40B4-BE49-F238E27FC236}">
                <a16:creationId xmlns:a16="http://schemas.microsoft.com/office/drawing/2014/main" id="{49A3EBC1-CBFC-C81B-DA25-F5A1FF3AC54A}"/>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0882" b="16632"/>
          <a:stretch/>
        </p:blipFill>
        <p:spPr>
          <a:xfrm>
            <a:off x="0" y="0"/>
            <a:ext cx="9144000" cy="6858000"/>
          </a:xfrm>
          <a:noFill/>
        </p:spPr>
      </p:pic>
      <p:sp>
        <p:nvSpPr>
          <p:cNvPr id="7" name="TextBox 6">
            <a:extLst>
              <a:ext uri="{FF2B5EF4-FFF2-40B4-BE49-F238E27FC236}">
                <a16:creationId xmlns:a16="http://schemas.microsoft.com/office/drawing/2014/main" id="{267CAAD9-190E-9C76-D3C7-D3A933E8525D}"/>
              </a:ext>
            </a:extLst>
          </p:cNvPr>
          <p:cNvSpPr txBox="1"/>
          <p:nvPr/>
        </p:nvSpPr>
        <p:spPr>
          <a:xfrm>
            <a:off x="6923316" y="6492647"/>
            <a:ext cx="2186817"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ea typeface="+mn-ea"/>
                <a:cs typeface="+mn-cs"/>
                <a:hlinkClick r:id="rId3" tooltip="https://informationtransfereconomics.blogspot.com/2015/12/who-said-macroeconomics-isnt.html">
                  <a:extLst>
                    <a:ext uri="{A12FA001-AC4F-418D-AE19-62706E023703}">
                      <ahyp:hlinkClr xmlns:ahyp="http://schemas.microsoft.com/office/drawing/2018/hyperlinkcolor" val="tx"/>
                    </a:ext>
                  </a:extLst>
                </a:hlinkClick>
              </a:rPr>
              <a:t>This Photo</a:t>
            </a:r>
            <a:r>
              <a:rPr lang="en-US" sz="700">
                <a:solidFill>
                  <a:srgbClr val="FFFFFF"/>
                </a:solidFill>
                <a:latin typeface="+mn-lt"/>
                <a:ea typeface="+mn-ea"/>
                <a:cs typeface="+mn-cs"/>
              </a:rPr>
              <a:t> by Unknown Author is licensed under </a:t>
            </a:r>
            <a:r>
              <a:rPr lang="en-US" sz="700">
                <a:solidFill>
                  <a:srgbClr val="FFFFFF"/>
                </a:solidFill>
                <a:latin typeface="+mn-lt"/>
                <a:ea typeface="+mn-ea"/>
                <a:cs typeface="+mn-cs"/>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latin typeface="+mn-lt"/>
              <a:ea typeface="+mn-ea"/>
              <a:cs typeface="+mn-cs"/>
            </a:endParaRPr>
          </a:p>
        </p:txBody>
      </p:sp>
      <p:sp>
        <p:nvSpPr>
          <p:cNvPr id="9" name="Rounded Rectangle 8">
            <a:extLst>
              <a:ext uri="{FF2B5EF4-FFF2-40B4-BE49-F238E27FC236}">
                <a16:creationId xmlns:a16="http://schemas.microsoft.com/office/drawing/2014/main" id="{812DD4C3-78E5-A241-96D6-DA04B290F9C7}"/>
              </a:ext>
            </a:extLst>
          </p:cNvPr>
          <p:cNvSpPr/>
          <p:nvPr/>
        </p:nvSpPr>
        <p:spPr>
          <a:xfrm>
            <a:off x="76200" y="139898"/>
            <a:ext cx="5943600" cy="1582327"/>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77;p16">
            <a:extLst>
              <a:ext uri="{FF2B5EF4-FFF2-40B4-BE49-F238E27FC236}">
                <a16:creationId xmlns:a16="http://schemas.microsoft.com/office/drawing/2014/main" id="{205FB3DC-F2E1-8407-4228-F20508F4FD4F}"/>
              </a:ext>
            </a:extLst>
          </p:cNvPr>
          <p:cNvSpPr txBox="1">
            <a:spLocks noGrp="1"/>
          </p:cNvSpPr>
          <p:nvPr>
            <p:ph type="title"/>
          </p:nvPr>
        </p:nvSpPr>
        <p:spPr>
          <a:xfrm>
            <a:off x="76200" y="265325"/>
            <a:ext cx="8763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4800" b="1" dirty="0">
                <a:latin typeface="Avenir"/>
                <a:ea typeface="Avenir"/>
                <a:cs typeface="Avenir"/>
                <a:sym typeface="Avenir"/>
              </a:rPr>
              <a:t>YOUR PERSONAL</a:t>
            </a:r>
            <a:br>
              <a:rPr lang="en" sz="4800" b="1" dirty="0">
                <a:latin typeface="Avenir"/>
                <a:ea typeface="Avenir"/>
                <a:cs typeface="Avenir"/>
                <a:sym typeface="Avenir"/>
              </a:rPr>
            </a:br>
            <a:r>
              <a:rPr lang="en" sz="4800" b="1" dirty="0">
                <a:latin typeface="Avenir"/>
                <a:ea typeface="Avenir"/>
                <a:cs typeface="Avenir"/>
                <a:sym typeface="Avenir"/>
              </a:rPr>
              <a:t>BOA: BUILD IT</a:t>
            </a:r>
            <a:endParaRPr sz="4800" b="1" dirty="0">
              <a:latin typeface="Avenir"/>
              <a:ea typeface="Avenir"/>
              <a:cs typeface="Avenir"/>
              <a:sym typeface="Avenir"/>
            </a:endParaRPr>
          </a:p>
        </p:txBody>
      </p:sp>
      <p:sp>
        <p:nvSpPr>
          <p:cNvPr id="2" name="Footer Placeholder 1">
            <a:extLst>
              <a:ext uri="{FF2B5EF4-FFF2-40B4-BE49-F238E27FC236}">
                <a16:creationId xmlns:a16="http://schemas.microsoft.com/office/drawing/2014/main" id="{E94074EC-0334-92EE-5C1D-DF75192BE997}"/>
              </a:ext>
            </a:extLst>
          </p:cNvPr>
          <p:cNvSpPr>
            <a:spLocks noGrp="1"/>
          </p:cNvSpPr>
          <p:nvPr>
            <p:ph type="ftr" sz="quarter" idx="11"/>
          </p:nvPr>
        </p:nvSpPr>
        <p:spPr/>
        <p:txBody>
          <a:bodyPr/>
          <a:lstStyle/>
          <a:p>
            <a:r>
              <a:rPr lang="en-US"/>
              <a:t>Copyright Katherine Korman Frey and Natalie Goldberg</a:t>
            </a:r>
            <a:endParaRPr lang="en-US" sz="1000" dirty="0"/>
          </a:p>
        </p:txBody>
      </p:sp>
      <p:sp>
        <p:nvSpPr>
          <p:cNvPr id="3" name="Footer Placeholder 4">
            <a:extLst>
              <a:ext uri="{FF2B5EF4-FFF2-40B4-BE49-F238E27FC236}">
                <a16:creationId xmlns:a16="http://schemas.microsoft.com/office/drawing/2014/main" id="{5DAFAB64-9BAC-70E7-E020-7A174DD9E80F}"/>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r>
              <a:rPr lang="en-US">
                <a:solidFill>
                  <a:schemeClr val="bg1"/>
                </a:solidFill>
              </a:rPr>
              <a:t>Copyright Katherine Korman Frey </a:t>
            </a:r>
            <a:endParaRPr lang="en-US" sz="1000" dirty="0">
              <a:solidFill>
                <a:schemeClr val="bg1"/>
              </a:solidFill>
            </a:endParaRPr>
          </a:p>
        </p:txBody>
      </p:sp>
    </p:spTree>
    <p:extLst>
      <p:ext uri="{BB962C8B-B14F-4D97-AF65-F5344CB8AC3E}">
        <p14:creationId xmlns:p14="http://schemas.microsoft.com/office/powerpoint/2010/main" val="1765718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1C8DA-5EC5-FB36-DF7C-C9BBE4476729}"/>
            </a:ext>
          </a:extLst>
        </p:cNvPr>
        <p:cNvGrpSpPr/>
        <p:nvPr/>
      </p:nvGrpSpPr>
      <p:grpSpPr>
        <a:xfrm>
          <a:off x="0" y="0"/>
          <a:ext cx="0" cy="0"/>
          <a:chOff x="0" y="0"/>
          <a:chExt cx="0" cy="0"/>
        </a:xfrm>
      </p:grpSpPr>
      <p:pic>
        <p:nvPicPr>
          <p:cNvPr id="6" name="Content Placeholder 5" descr="Long shot of a conference room&#10;&#10;AI-generated content may be incorrect.">
            <a:extLst>
              <a:ext uri="{FF2B5EF4-FFF2-40B4-BE49-F238E27FC236}">
                <a16:creationId xmlns:a16="http://schemas.microsoft.com/office/drawing/2014/main" id="{34AA94B5-20EE-D5FB-F5DE-480FE9797B0C}"/>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0882" b="16632"/>
          <a:stretch/>
        </p:blipFill>
        <p:spPr>
          <a:xfrm>
            <a:off x="0" y="0"/>
            <a:ext cx="9144000" cy="6858000"/>
          </a:xfrm>
          <a:noFill/>
        </p:spPr>
      </p:pic>
      <p:sp>
        <p:nvSpPr>
          <p:cNvPr id="9" name="Rounded Rectangle 8">
            <a:extLst>
              <a:ext uri="{FF2B5EF4-FFF2-40B4-BE49-F238E27FC236}">
                <a16:creationId xmlns:a16="http://schemas.microsoft.com/office/drawing/2014/main" id="{58D41338-2D0D-58CD-09F2-5411F62CE90E}"/>
              </a:ext>
            </a:extLst>
          </p:cNvPr>
          <p:cNvSpPr/>
          <p:nvPr/>
        </p:nvSpPr>
        <p:spPr>
          <a:xfrm>
            <a:off x="800100" y="877873"/>
            <a:ext cx="7543800" cy="4736902"/>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77;p16">
            <a:extLst>
              <a:ext uri="{FF2B5EF4-FFF2-40B4-BE49-F238E27FC236}">
                <a16:creationId xmlns:a16="http://schemas.microsoft.com/office/drawing/2014/main" id="{8DD8895E-7B0F-E494-05A5-25FE6C7346A4}"/>
              </a:ext>
            </a:extLst>
          </p:cNvPr>
          <p:cNvSpPr txBox="1">
            <a:spLocks noGrp="1"/>
          </p:cNvSpPr>
          <p:nvPr>
            <p:ph type="title"/>
          </p:nvPr>
        </p:nvSpPr>
        <p:spPr>
          <a:xfrm>
            <a:off x="1562100" y="3762113"/>
            <a:ext cx="6324600" cy="1482300"/>
          </a:xfrm>
          <a:prstGeom prst="rect">
            <a:avLst/>
          </a:prstGeom>
        </p:spPr>
        <p:txBody>
          <a:bodyPr spcFirstLastPara="1" wrap="square" lIns="91425" tIns="91425" rIns="91425" bIns="91425" anchor="b" anchorCtr="0">
            <a:noAutofit/>
          </a:bodyPr>
          <a:lstStyle/>
          <a:p>
            <a:pPr lvl="0" algn="l">
              <a:spcBef>
                <a:spcPts val="0"/>
              </a:spcBef>
              <a:spcAft>
                <a:spcPts val="0"/>
              </a:spcAft>
              <a:buClr>
                <a:srgbClr val="000000"/>
              </a:buClr>
              <a:buSzPts val="1100"/>
            </a:pPr>
            <a:r>
              <a:rPr lang="en-US" i="1" dirty="0"/>
              <a:t>It takes just as much time and effort to dream small as to dream big, so you might as well DREAM BIG!</a:t>
            </a:r>
            <a:br>
              <a:rPr lang="en-US" i="1" dirty="0"/>
            </a:br>
            <a:br>
              <a:rPr lang="en-US" dirty="0"/>
            </a:br>
            <a:r>
              <a:rPr lang="en-US" dirty="0"/>
              <a:t>~ </a:t>
            </a:r>
            <a:r>
              <a:rPr lang="en-US" dirty="0" err="1"/>
              <a:t>Rosabeth</a:t>
            </a:r>
            <a:r>
              <a:rPr lang="en-US" dirty="0"/>
              <a:t> Moss Kanter</a:t>
            </a:r>
            <a:endParaRPr sz="4800" b="1" dirty="0">
              <a:latin typeface="Avenir"/>
              <a:ea typeface="Avenir"/>
              <a:cs typeface="Avenir"/>
              <a:sym typeface="Avenir"/>
            </a:endParaRPr>
          </a:p>
        </p:txBody>
      </p:sp>
      <p:sp>
        <p:nvSpPr>
          <p:cNvPr id="2" name="Footer Placeholder 1">
            <a:extLst>
              <a:ext uri="{FF2B5EF4-FFF2-40B4-BE49-F238E27FC236}">
                <a16:creationId xmlns:a16="http://schemas.microsoft.com/office/drawing/2014/main" id="{AF9E8C34-A8A6-8A73-33BA-11D76CB65853}"/>
              </a:ext>
            </a:extLst>
          </p:cNvPr>
          <p:cNvSpPr>
            <a:spLocks noGrp="1"/>
          </p:cNvSpPr>
          <p:nvPr>
            <p:ph type="ftr" sz="quarter" idx="11"/>
          </p:nvPr>
        </p:nvSpPr>
        <p:spPr/>
        <p:txBody>
          <a:bodyPr/>
          <a:lstStyle/>
          <a:p>
            <a:r>
              <a:rPr lang="en-US"/>
              <a:t>Copyright Katherine Korman Frey and Natalie Goldberg</a:t>
            </a:r>
            <a:endParaRPr lang="en-US" sz="1000" dirty="0"/>
          </a:p>
        </p:txBody>
      </p:sp>
    </p:spTree>
    <p:extLst>
      <p:ext uri="{BB962C8B-B14F-4D97-AF65-F5344CB8AC3E}">
        <p14:creationId xmlns:p14="http://schemas.microsoft.com/office/powerpoint/2010/main" val="4007454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8ECF-D679-8CE2-5B45-730FA5B6ECF0}"/>
            </a:ext>
          </a:extLst>
        </p:cNvPr>
        <p:cNvGrpSpPr/>
        <p:nvPr/>
      </p:nvGrpSpPr>
      <p:grpSpPr>
        <a:xfrm>
          <a:off x="0" y="0"/>
          <a:ext cx="0" cy="0"/>
          <a:chOff x="0" y="0"/>
          <a:chExt cx="0" cy="0"/>
        </a:xfrm>
      </p:grpSpPr>
      <p:sp>
        <p:nvSpPr>
          <p:cNvPr id="6" name="Google Shape;77;p16">
            <a:extLst>
              <a:ext uri="{FF2B5EF4-FFF2-40B4-BE49-F238E27FC236}">
                <a16:creationId xmlns:a16="http://schemas.microsoft.com/office/drawing/2014/main" id="{E43F4EE9-90A2-8A8A-9D14-8AA0F24D095E}"/>
              </a:ext>
            </a:extLst>
          </p:cNvPr>
          <p:cNvSpPr txBox="1">
            <a:spLocks noGrp="1"/>
          </p:cNvSpPr>
          <p:nvPr>
            <p:ph type="title"/>
          </p:nvPr>
        </p:nvSpPr>
        <p:spPr>
          <a:xfrm>
            <a:off x="228600" y="4572000"/>
            <a:ext cx="6477000" cy="1482300"/>
          </a:xfrm>
          <a:prstGeom prst="rect">
            <a:avLst/>
          </a:prstGeom>
        </p:spPr>
        <p:txBody>
          <a:bodyPr spcFirstLastPara="1" wrap="square" lIns="91425" tIns="91425" rIns="91425" bIns="91425" anchor="b" anchorCtr="0">
            <a:noAutofit/>
          </a:bodyPr>
          <a:lstStyle/>
          <a:p>
            <a:pPr lvl="0" algn="l">
              <a:spcBef>
                <a:spcPts val="0"/>
              </a:spcBef>
              <a:spcAft>
                <a:spcPts val="0"/>
              </a:spcAft>
              <a:buClr>
                <a:srgbClr val="000000"/>
              </a:buClr>
              <a:buSzPts val="1100"/>
            </a:pPr>
            <a:r>
              <a:rPr lang="en" sz="3600" b="1" dirty="0">
                <a:latin typeface="Avenir"/>
                <a:ea typeface="Avenir"/>
                <a:cs typeface="Avenir"/>
                <a:sym typeface="Avenir"/>
              </a:rPr>
              <a:t>I. “DREAM BIG” Career Goal</a:t>
            </a:r>
            <a:br>
              <a:rPr lang="en" sz="3600" b="1" dirty="0">
                <a:latin typeface="Avenir"/>
                <a:ea typeface="Avenir"/>
                <a:cs typeface="Avenir"/>
                <a:sym typeface="Avenir"/>
              </a:rPr>
            </a:br>
            <a:br>
              <a:rPr lang="en" sz="3600" b="1" dirty="0">
                <a:latin typeface="Avenir"/>
                <a:ea typeface="Avenir"/>
                <a:cs typeface="Avenir"/>
                <a:sym typeface="Avenir"/>
              </a:rPr>
            </a:br>
            <a:r>
              <a:rPr lang="en" sz="3600" b="1" dirty="0">
                <a:latin typeface="Avenir"/>
                <a:ea typeface="Avenir"/>
                <a:cs typeface="Avenir"/>
                <a:sym typeface="Avenir"/>
              </a:rPr>
              <a:t>II &amp; III: CONTEXT and BOA</a:t>
            </a:r>
            <a:br>
              <a:rPr lang="en" sz="3600" b="1" dirty="0">
                <a:latin typeface="Avenir"/>
                <a:ea typeface="Avenir"/>
                <a:cs typeface="Avenir"/>
                <a:sym typeface="Avenir"/>
              </a:rPr>
            </a:br>
            <a:r>
              <a:rPr lang="en" sz="3600" b="1" dirty="0">
                <a:latin typeface="Avenir"/>
                <a:ea typeface="Avenir"/>
                <a:cs typeface="Avenir"/>
                <a:sym typeface="Avenir"/>
              </a:rPr>
              <a:t>Formation</a:t>
            </a:r>
            <a:br>
              <a:rPr lang="en" sz="3600" b="1" dirty="0">
                <a:latin typeface="Avenir"/>
                <a:ea typeface="Avenir"/>
                <a:cs typeface="Avenir"/>
                <a:sym typeface="Avenir"/>
              </a:rPr>
            </a:br>
            <a:br>
              <a:rPr lang="en" sz="3600" b="1" dirty="0">
                <a:latin typeface="Avenir"/>
                <a:ea typeface="Avenir"/>
                <a:cs typeface="Avenir"/>
                <a:sym typeface="Avenir"/>
              </a:rPr>
            </a:br>
            <a:r>
              <a:rPr lang="en" sz="3600" b="1" dirty="0">
                <a:latin typeface="Avenir"/>
                <a:ea typeface="Avenir"/>
                <a:cs typeface="Avenir"/>
                <a:sym typeface="Avenir"/>
              </a:rPr>
              <a:t>IV &amp; V: (more) CONTEXT and BOA Revision</a:t>
            </a:r>
            <a:br>
              <a:rPr lang="en" sz="3600" b="1" dirty="0">
                <a:latin typeface="Avenir"/>
                <a:ea typeface="Avenir"/>
                <a:cs typeface="Avenir"/>
                <a:sym typeface="Avenir"/>
              </a:rPr>
            </a:br>
            <a:br>
              <a:rPr lang="en" sz="3600" b="1" dirty="0">
                <a:latin typeface="Avenir"/>
                <a:ea typeface="Avenir"/>
                <a:cs typeface="Avenir"/>
                <a:sym typeface="Avenir"/>
              </a:rPr>
            </a:br>
            <a:r>
              <a:rPr lang="en" sz="3600" b="1" dirty="0">
                <a:latin typeface="Avenir"/>
                <a:ea typeface="Avenir"/>
                <a:cs typeface="Avenir"/>
                <a:sym typeface="Avenir"/>
              </a:rPr>
              <a:t>Game Time: Call the M</a:t>
            </a:r>
            <a:r>
              <a:rPr lang="en-US" sz="3600" b="1" dirty="0">
                <a:latin typeface="Avenir"/>
                <a:ea typeface="Avenir"/>
                <a:cs typeface="Avenir"/>
                <a:sym typeface="Avenir"/>
              </a:rPr>
              <a:t>e</a:t>
            </a:r>
            <a:r>
              <a:rPr lang="en" sz="3600" b="1" dirty="0" err="1">
                <a:latin typeface="Avenir"/>
                <a:ea typeface="Avenir"/>
                <a:cs typeface="Avenir"/>
                <a:sym typeface="Avenir"/>
              </a:rPr>
              <a:t>eting</a:t>
            </a:r>
            <a:r>
              <a:rPr lang="en" sz="3600" b="1" dirty="0">
                <a:latin typeface="Avenir"/>
                <a:ea typeface="Avenir"/>
                <a:cs typeface="Avenir"/>
                <a:sym typeface="Avenir"/>
              </a:rPr>
              <a:t> To Order</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55480142-0331-643C-9A39-EB04FFEC27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D24FF2A2-B7C4-44D4-7CA7-2C3CBDD23774}"/>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1679377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34D60-9E04-0547-2747-F7D58794B5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603EC-5338-97A6-1EDF-4BBB91ACE33A}"/>
              </a:ext>
            </a:extLst>
          </p:cNvPr>
          <p:cNvSpPr>
            <a:spLocks noGrp="1"/>
          </p:cNvSpPr>
          <p:nvPr>
            <p:ph idx="1"/>
          </p:nvPr>
        </p:nvSpPr>
        <p:spPr>
          <a:xfrm>
            <a:off x="316832" y="609600"/>
            <a:ext cx="6019800" cy="4191000"/>
          </a:xfrm>
        </p:spPr>
        <p:txBody>
          <a:bodyPr/>
          <a:lstStyle/>
          <a:p>
            <a:pPr marL="457200" marR="0" lvl="1" indent="0">
              <a:buNone/>
            </a:pPr>
            <a:endParaRPr lang="en-US" b="1" kern="0" dirty="0">
              <a:latin typeface="Avenir Book" panose="02000503020000020003" pitchFamily="2" charset="0"/>
            </a:endParaRPr>
          </a:p>
          <a:p>
            <a:pPr marL="457200" marR="0" lvl="1" indent="0">
              <a:buNone/>
            </a:pPr>
            <a:r>
              <a:rPr lang="en-US" b="1" kern="0" dirty="0">
                <a:highlight>
                  <a:srgbClr val="C0C0C0"/>
                </a:highlight>
                <a:latin typeface="Avenir Book" panose="02000503020000020003" pitchFamily="2" charset="0"/>
              </a:rPr>
              <a:t>Sample chat prompt: </a:t>
            </a:r>
          </a:p>
          <a:p>
            <a:pPr marL="457200" marR="0" lvl="1" indent="0">
              <a:buNone/>
            </a:pPr>
            <a:endParaRPr lang="en-US" sz="1000" b="1" kern="0" dirty="0">
              <a:latin typeface="Avenir Book" panose="02000503020000020003" pitchFamily="2" charset="0"/>
            </a:endParaRPr>
          </a:p>
          <a:p>
            <a:pPr marL="457200" marR="0" lvl="1" indent="0">
              <a:buNone/>
            </a:pPr>
            <a:r>
              <a:rPr lang="en-US" b="1" i="1" kern="0" dirty="0">
                <a:latin typeface="Avenir Book" panose="02000503020000020003" pitchFamily="2" charset="0"/>
              </a:rPr>
              <a:t>I want to be ________ in 5/10/20 years. I want to assemble a board of advisors to coach, mentor, and get me there. What do you information do you need to know to assemble this personal BOA?</a:t>
            </a:r>
          </a:p>
          <a:p>
            <a:pPr marL="457200" marR="0" lvl="1" indent="0">
              <a:buNone/>
            </a:pPr>
            <a:endParaRPr lang="en-US" b="1" i="1" kern="0" dirty="0">
              <a:latin typeface="Avenir Book" panose="02000503020000020003" pitchFamily="2" charset="0"/>
            </a:endParaRPr>
          </a:p>
          <a:p>
            <a:pPr marL="457200" marR="0" lvl="1" indent="0">
              <a:buNone/>
            </a:pPr>
            <a:r>
              <a:rPr lang="en-US" b="1" i="1" kern="0" dirty="0">
                <a:latin typeface="Avenir Book" panose="02000503020000020003" pitchFamily="2" charset="0"/>
              </a:rPr>
              <a:t>Two scenarios:</a:t>
            </a:r>
          </a:p>
          <a:p>
            <a:pPr marR="0" lvl="1">
              <a:buFontTx/>
              <a:buChar char="-"/>
            </a:pPr>
            <a:r>
              <a:rPr lang="en-US" b="1" i="1" kern="0" dirty="0">
                <a:latin typeface="Avenir Book" panose="02000503020000020003" pitchFamily="2" charset="0"/>
              </a:rPr>
              <a:t>You know the goal</a:t>
            </a:r>
          </a:p>
          <a:p>
            <a:pPr marR="0" lvl="1">
              <a:buFontTx/>
              <a:buChar char="-"/>
            </a:pPr>
            <a:r>
              <a:rPr lang="en-US" b="1" i="1" kern="0" dirty="0">
                <a:latin typeface="Avenir Book" panose="02000503020000020003" pitchFamily="2" charset="0"/>
              </a:rPr>
              <a:t>You don’t (let AI guide you)</a:t>
            </a: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D7D4B36B-09AC-6A8E-179A-2805F4D52470}"/>
              </a:ext>
            </a:extLst>
          </p:cNvPr>
          <p:cNvSpPr txBox="1">
            <a:spLocks noGrp="1"/>
          </p:cNvSpPr>
          <p:nvPr>
            <p:ph type="title"/>
          </p:nvPr>
        </p:nvSpPr>
        <p:spPr>
          <a:xfrm>
            <a:off x="372979" y="-45720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I. DREAM BIG CAREER GOAL</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4CB902A5-A7FA-593F-F069-C4B43BD12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7AABF5BC-E45B-F5D7-1980-B310C7BE9306}"/>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1461920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B0424-21F5-7EDF-0B42-418611DCC9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639D5-7104-2191-D5A9-2D50C0BA338B}"/>
              </a:ext>
            </a:extLst>
          </p:cNvPr>
          <p:cNvSpPr>
            <a:spLocks noGrp="1"/>
          </p:cNvSpPr>
          <p:nvPr>
            <p:ph idx="1"/>
          </p:nvPr>
        </p:nvSpPr>
        <p:spPr>
          <a:xfrm>
            <a:off x="344905" y="1143000"/>
            <a:ext cx="6019800" cy="4191000"/>
          </a:xfrm>
        </p:spPr>
        <p:txBody>
          <a:bodyPr/>
          <a:lstStyle/>
          <a:p>
            <a:pPr marL="457200" marR="0" lvl="1" indent="0">
              <a:buNone/>
            </a:pPr>
            <a:r>
              <a:rPr lang="en-US" b="1" kern="0" dirty="0">
                <a:highlight>
                  <a:srgbClr val="C0C0C0"/>
                </a:highlight>
                <a:latin typeface="Avenir Book" panose="02000503020000020003" pitchFamily="2" charset="0"/>
              </a:rPr>
              <a:t>Answer the bot’s questions</a:t>
            </a:r>
            <a:r>
              <a:rPr lang="en-US" b="1" kern="0" dirty="0">
                <a:latin typeface="Avenir Book" panose="02000503020000020003" pitchFamily="2" charset="0"/>
              </a:rPr>
              <a:t>, which may be:</a:t>
            </a:r>
          </a:p>
          <a:p>
            <a:pPr lvl="1"/>
            <a:r>
              <a:rPr lang="en-US" b="1" kern="0" dirty="0">
                <a:latin typeface="Avenir Book" panose="02000503020000020003" pitchFamily="2" charset="0"/>
              </a:rPr>
              <a:t>About board</a:t>
            </a:r>
          </a:p>
          <a:p>
            <a:pPr lvl="2"/>
            <a:r>
              <a:rPr lang="en-US" b="1" kern="0" dirty="0">
                <a:latin typeface="Avenir Book" panose="02000503020000020003" pitchFamily="2" charset="0"/>
              </a:rPr>
              <a:t>E.g., Historical or current figures (or chat bot assembles on own)</a:t>
            </a:r>
          </a:p>
          <a:p>
            <a:pPr lvl="1"/>
            <a:r>
              <a:rPr lang="en-US" b="1" kern="0" dirty="0">
                <a:latin typeface="Avenir Book" panose="02000503020000020003" pitchFamily="2" charset="0"/>
              </a:rPr>
              <a:t>About you</a:t>
            </a:r>
          </a:p>
          <a:p>
            <a:pPr lvl="2"/>
            <a:r>
              <a:rPr lang="en-US" b="1" kern="0" dirty="0">
                <a:latin typeface="Avenir Book" panose="02000503020000020003" pitchFamily="2" charset="0"/>
              </a:rPr>
              <a:t>Your background, skills, education, plans for education, skill acquisition, career between now and then (or let bot guide you)</a:t>
            </a:r>
          </a:p>
          <a:p>
            <a:pPr lvl="2"/>
            <a:r>
              <a:rPr lang="en-US" b="1" kern="0" dirty="0">
                <a:latin typeface="Avenir Book" panose="02000503020000020003" pitchFamily="2" charset="0"/>
              </a:rPr>
              <a:t>Your values and motivations</a:t>
            </a:r>
          </a:p>
          <a:p>
            <a:pPr lvl="1"/>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E5ED8A24-CAB4-8B00-C149-6C6250037B50}"/>
              </a:ext>
            </a:extLst>
          </p:cNvPr>
          <p:cNvSpPr txBox="1">
            <a:spLocks noGrp="1"/>
          </p:cNvSpPr>
          <p:nvPr>
            <p:ph type="title"/>
          </p:nvPr>
        </p:nvSpPr>
        <p:spPr>
          <a:xfrm>
            <a:off x="372979" y="-45720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II. CONTEXT ROUND 1</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FAA4F4E1-E115-0F6A-94A3-F68DF971ED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D5CC15D4-0A26-D417-CE0F-9B83EFB81CF7}"/>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2435594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DE13-3D83-FB21-B38A-B27ECF5959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14AAA-1211-FAD5-1B35-287B04C100E0}"/>
              </a:ext>
            </a:extLst>
          </p:cNvPr>
          <p:cNvSpPr>
            <a:spLocks noGrp="1"/>
          </p:cNvSpPr>
          <p:nvPr>
            <p:ph idx="1"/>
          </p:nvPr>
        </p:nvSpPr>
        <p:spPr>
          <a:xfrm>
            <a:off x="228600" y="1946699"/>
            <a:ext cx="6019800" cy="1482300"/>
          </a:xfrm>
        </p:spPr>
        <p:txBody>
          <a:bodyPr/>
          <a:lstStyle/>
          <a:p>
            <a:pPr marL="457200" marR="0" lvl="1" indent="0">
              <a:buNone/>
            </a:pPr>
            <a:r>
              <a:rPr lang="en-US" b="1" kern="0" dirty="0">
                <a:highlight>
                  <a:srgbClr val="C0C0C0"/>
                </a:highlight>
                <a:latin typeface="Avenir Book" panose="02000503020000020003" pitchFamily="2" charset="0"/>
              </a:rPr>
              <a:t>Ask AI to assemble the board for you. </a:t>
            </a:r>
          </a:p>
          <a:p>
            <a:pPr marL="457200" lvl="1" indent="0">
              <a:buNone/>
            </a:pPr>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3A346868-B769-78BD-D628-6CE46C440B01}"/>
              </a:ext>
            </a:extLst>
          </p:cNvPr>
          <p:cNvSpPr txBox="1">
            <a:spLocks noGrp="1"/>
          </p:cNvSpPr>
          <p:nvPr>
            <p:ph type="title"/>
          </p:nvPr>
        </p:nvSpPr>
        <p:spPr>
          <a:xfrm>
            <a:off x="372979" y="-45720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III. BOA ROUND 1</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0816944F-7EFE-9FE9-55F4-19475B7D8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4F6892C4-8810-E78B-0ED6-E655F3049866}"/>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3442332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7F851-DB74-A8A2-513E-92FB7EF5EB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AE272-A92B-26CD-7DA9-DBB09F533862}"/>
              </a:ext>
            </a:extLst>
          </p:cNvPr>
          <p:cNvSpPr>
            <a:spLocks noGrp="1"/>
          </p:cNvSpPr>
          <p:nvPr>
            <p:ph idx="1"/>
          </p:nvPr>
        </p:nvSpPr>
        <p:spPr>
          <a:xfrm>
            <a:off x="340895" y="1497378"/>
            <a:ext cx="6019800" cy="4191000"/>
          </a:xfrm>
        </p:spPr>
        <p:txBody>
          <a:bodyPr/>
          <a:lstStyle/>
          <a:p>
            <a:pPr marL="457200" lvl="1" indent="0">
              <a:buNone/>
            </a:pPr>
            <a:r>
              <a:rPr lang="en-US" b="1" kern="0" dirty="0">
                <a:highlight>
                  <a:srgbClr val="C0C0C0"/>
                </a:highlight>
                <a:latin typeface="Avenir Book" panose="02000503020000020003" pitchFamily="2" charset="0"/>
              </a:rPr>
              <a:t>Enhance context with YOUR info to shape a revised board</a:t>
            </a:r>
            <a:r>
              <a:rPr lang="en-US" b="1" kern="0" dirty="0">
                <a:latin typeface="Avenir Book" panose="02000503020000020003" pitchFamily="2" charset="0"/>
              </a:rPr>
              <a:t>. E.g., </a:t>
            </a:r>
          </a:p>
          <a:p>
            <a:pPr lvl="1">
              <a:buFont typeface="Courier New" panose="02070309020205020404" pitchFamily="49" charset="0"/>
              <a:buChar char="o"/>
            </a:pPr>
            <a:r>
              <a:rPr lang="en-US" b="1" kern="0" dirty="0">
                <a:latin typeface="Avenir Book" panose="02000503020000020003" pitchFamily="2" charset="0"/>
              </a:rPr>
              <a:t>What other information can you provide to deepen results?</a:t>
            </a:r>
          </a:p>
          <a:p>
            <a:pPr lvl="1">
              <a:buFont typeface="Courier New" panose="02070309020205020404" pitchFamily="49" charset="0"/>
              <a:buChar char="o"/>
            </a:pPr>
            <a:r>
              <a:rPr lang="en-US" b="1" kern="0" dirty="0">
                <a:latin typeface="Avenir Book" panose="02000503020000020003" pitchFamily="2" charset="0"/>
              </a:rPr>
              <a:t>Where would you like to work (geography / field)</a:t>
            </a:r>
          </a:p>
          <a:p>
            <a:pPr lvl="1">
              <a:buFont typeface="Courier New" panose="02070309020205020404" pitchFamily="49" charset="0"/>
              <a:buChar char="o"/>
            </a:pPr>
            <a:r>
              <a:rPr lang="en-US" b="1" kern="0" dirty="0">
                <a:highlight>
                  <a:srgbClr val="C0C0C0"/>
                </a:highlight>
                <a:latin typeface="Avenir Book" panose="02000503020000020003" pitchFamily="2" charset="0"/>
              </a:rPr>
              <a:t>What culture of organization are you seeking (or would you like to create)</a:t>
            </a:r>
          </a:p>
          <a:p>
            <a:pPr lvl="1">
              <a:buFont typeface="Courier New" panose="02070309020205020404" pitchFamily="49" charset="0"/>
              <a:buChar char="o"/>
            </a:pPr>
            <a:r>
              <a:rPr lang="en-US" b="1" kern="0" dirty="0">
                <a:latin typeface="Avenir Book" panose="02000503020000020003" pitchFamily="2" charset="0"/>
              </a:rPr>
              <a:t>People (not institutions, if bot has put offices on your board).</a:t>
            </a:r>
          </a:p>
          <a:p>
            <a:pPr marL="457200" lvl="1" indent="0">
              <a:buNone/>
            </a:pPr>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95B901D4-7497-3D6F-152A-7B4BCA8F02FB}"/>
              </a:ext>
            </a:extLst>
          </p:cNvPr>
          <p:cNvSpPr txBox="1">
            <a:spLocks noGrp="1"/>
          </p:cNvSpPr>
          <p:nvPr>
            <p:ph type="title"/>
          </p:nvPr>
        </p:nvSpPr>
        <p:spPr>
          <a:xfrm>
            <a:off x="372979" y="-45720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IV. CONTEXT ROUND 2</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50C2BDC9-F662-CF04-2153-C9C88EB15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0708C99E-7613-D0E2-6B8C-6EC0B37E9185}"/>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80920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66F5-D9C0-73C3-029F-4AE592678D4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EE5DF0-17FB-3460-4227-F3E1DD471DDB}"/>
              </a:ext>
            </a:extLst>
          </p:cNvPr>
          <p:cNvSpPr>
            <a:spLocks noGrp="1"/>
          </p:cNvSpPr>
          <p:nvPr>
            <p:ph idx="1"/>
          </p:nvPr>
        </p:nvSpPr>
        <p:spPr>
          <a:xfrm>
            <a:off x="228600" y="1946699"/>
            <a:ext cx="6019800" cy="1482300"/>
          </a:xfrm>
        </p:spPr>
        <p:txBody>
          <a:bodyPr/>
          <a:lstStyle/>
          <a:p>
            <a:pPr marL="457200" marR="0" lvl="1" indent="0">
              <a:buNone/>
            </a:pPr>
            <a:r>
              <a:rPr lang="en-US" b="1" kern="0" dirty="0">
                <a:highlight>
                  <a:srgbClr val="C0C0C0"/>
                </a:highlight>
                <a:latin typeface="Avenir Book" panose="02000503020000020003" pitchFamily="2" charset="0"/>
              </a:rPr>
              <a:t>Ask AI to re-assemble the board </a:t>
            </a:r>
            <a:r>
              <a:rPr lang="en-US" b="1" kern="0" dirty="0">
                <a:latin typeface="Avenir Book" panose="02000503020000020003" pitchFamily="2" charset="0"/>
              </a:rPr>
              <a:t>for you given the additional context.</a:t>
            </a:r>
          </a:p>
          <a:p>
            <a:pPr marL="457200" lvl="1" indent="0">
              <a:buNone/>
            </a:pPr>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14735D9C-FEE1-3F0C-A454-C1224C7BE546}"/>
              </a:ext>
            </a:extLst>
          </p:cNvPr>
          <p:cNvSpPr txBox="1">
            <a:spLocks noGrp="1"/>
          </p:cNvSpPr>
          <p:nvPr>
            <p:ph type="title"/>
          </p:nvPr>
        </p:nvSpPr>
        <p:spPr>
          <a:xfrm>
            <a:off x="372979" y="-45720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V. BOA ROUND 2</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93DABC1C-DF42-306F-3497-8904CF9D5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3BEAFDFD-594D-8DBD-6847-0F85771402CE}"/>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163030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C281-106F-BA13-E3F2-16C708D442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C2D3C9-5AA0-76A7-8EED-2700C8FB4911}"/>
              </a:ext>
            </a:extLst>
          </p:cNvPr>
          <p:cNvSpPr>
            <a:spLocks noGrp="1"/>
          </p:cNvSpPr>
          <p:nvPr>
            <p:ph idx="1"/>
          </p:nvPr>
        </p:nvSpPr>
        <p:spPr>
          <a:xfrm>
            <a:off x="344905" y="1752600"/>
            <a:ext cx="6019800" cy="4191000"/>
          </a:xfrm>
        </p:spPr>
        <p:txBody>
          <a:bodyPr/>
          <a:lstStyle/>
          <a:p>
            <a:pPr marL="457200" marR="0" lvl="1" indent="0">
              <a:buNone/>
            </a:pPr>
            <a:r>
              <a:rPr lang="en-US" b="1" kern="0" dirty="0">
                <a:highlight>
                  <a:srgbClr val="C0C0C0"/>
                </a:highlight>
                <a:latin typeface="Avenir Book" panose="02000503020000020003" pitchFamily="2" charset="0"/>
              </a:rPr>
              <a:t>Ask the first question to your personal board of advisors.</a:t>
            </a:r>
          </a:p>
          <a:p>
            <a:pPr marL="457200" marR="0" lvl="1" indent="0">
              <a:buNone/>
            </a:pPr>
            <a:endParaRPr lang="en-US" b="1" kern="0" dirty="0">
              <a:latin typeface="Avenir Book" panose="02000503020000020003" pitchFamily="2" charset="0"/>
            </a:endParaRPr>
          </a:p>
          <a:p>
            <a:pPr marL="457200" marR="0" lvl="1" indent="0">
              <a:buNone/>
            </a:pPr>
            <a:r>
              <a:rPr lang="en-US" b="1" i="1" kern="0" dirty="0">
                <a:latin typeface="Avenir Book" panose="02000503020000020003" pitchFamily="2" charset="0"/>
              </a:rPr>
              <a:t>Sample: Specific /General</a:t>
            </a:r>
          </a:p>
          <a:p>
            <a:pPr lvl="1">
              <a:buFont typeface="Courier New" panose="02070309020205020404" pitchFamily="49" charset="0"/>
              <a:buChar char="o"/>
            </a:pPr>
            <a:r>
              <a:rPr lang="en-US" b="1" i="1" kern="0" dirty="0">
                <a:highlight>
                  <a:srgbClr val="C0C0C0"/>
                </a:highlight>
                <a:latin typeface="Avenir Book" panose="02000503020000020003" pitchFamily="2" charset="0"/>
              </a:rPr>
              <a:t>Lay out a career, education, </a:t>
            </a:r>
            <a:r>
              <a:rPr lang="en-US" b="1" kern="0" dirty="0">
                <a:highlight>
                  <a:srgbClr val="C0C0C0"/>
                </a:highlight>
                <a:latin typeface="Avenir Book" panose="02000503020000020003" pitchFamily="2" charset="0"/>
              </a:rPr>
              <a:t>and</a:t>
            </a:r>
            <a:r>
              <a:rPr lang="en-US" b="1" i="1" kern="0" dirty="0">
                <a:highlight>
                  <a:srgbClr val="C0C0C0"/>
                </a:highlight>
                <a:latin typeface="Avenir Book" panose="02000503020000020003" pitchFamily="2" charset="0"/>
              </a:rPr>
              <a:t> skills acquisition path for me for the next ____ years</a:t>
            </a:r>
            <a:r>
              <a:rPr lang="en-US" b="1" i="1" kern="0" dirty="0">
                <a:latin typeface="Avenir Book" panose="02000503020000020003" pitchFamily="2" charset="0"/>
              </a:rPr>
              <a:t>.</a:t>
            </a:r>
          </a:p>
          <a:p>
            <a:pPr lvl="1">
              <a:buFont typeface="Courier New" panose="02070309020205020404" pitchFamily="49" charset="0"/>
              <a:buChar char="o"/>
            </a:pPr>
            <a:r>
              <a:rPr lang="en-US" b="1" i="1" kern="0" dirty="0">
                <a:latin typeface="Avenir Book" panose="02000503020000020003" pitchFamily="2" charset="0"/>
              </a:rPr>
              <a:t>I want to _____, how do I best go about that?</a:t>
            </a:r>
          </a:p>
          <a:p>
            <a:pPr lvl="1"/>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15D38BB4-E189-B43F-1151-A38A2B3A75F5}"/>
              </a:ext>
            </a:extLst>
          </p:cNvPr>
          <p:cNvSpPr txBox="1">
            <a:spLocks noGrp="1"/>
          </p:cNvSpPr>
          <p:nvPr>
            <p:ph type="title"/>
          </p:nvPr>
        </p:nvSpPr>
        <p:spPr>
          <a:xfrm>
            <a:off x="344905" y="84555"/>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latin typeface="Avenir"/>
                <a:ea typeface="Avenir"/>
                <a:cs typeface="Avenir"/>
                <a:sym typeface="Avenir"/>
              </a:rPr>
              <a:t>GAME TIME: CALL THE MEETING TO ORDER</a:t>
            </a:r>
            <a:endParaRPr sz="3600" b="1" dirty="0">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DC23DA9A-8ABF-FB51-9975-3CE7117ED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4CA329BA-3D97-05A6-7A5D-4FF61768EED3}"/>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416389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BB11B-27F5-8948-937B-03A2DA60A9D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2CFB210-7556-4C4F-45F6-918670D2B255}"/>
              </a:ext>
            </a:extLst>
          </p:cNvPr>
          <p:cNvSpPr>
            <a:spLocks noGrp="1"/>
          </p:cNvSpPr>
          <p:nvPr>
            <p:ph type="sldNum" sz="quarter" idx="14"/>
          </p:nvPr>
        </p:nvSpPr>
        <p:spPr/>
        <p:txBody>
          <a:bodyPr/>
          <a:lstStyle/>
          <a:p>
            <a:pPr>
              <a:defRPr/>
            </a:pPr>
            <a:fld id="{F8741D65-C386-044D-887D-07A47F83AF09}" type="slidenum">
              <a:rPr lang="en-US" smtClean="0"/>
              <a:pPr>
                <a:defRPr/>
              </a:pPr>
              <a:t>22</a:t>
            </a:fld>
            <a:endParaRPr lang="en-US"/>
          </a:p>
        </p:txBody>
      </p:sp>
      <p:sp>
        <p:nvSpPr>
          <p:cNvPr id="10" name="Rectangle 3">
            <a:extLst>
              <a:ext uri="{FF2B5EF4-FFF2-40B4-BE49-F238E27FC236}">
                <a16:creationId xmlns:a16="http://schemas.microsoft.com/office/drawing/2014/main" id="{EBE89EBB-437B-9FC4-86AA-BF460E75D945}"/>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indent="-742950">
              <a:buAutoNum type="arabicPeriod"/>
            </a:pPr>
            <a:endParaRPr lang="en-US" sz="3600" b="1" dirty="0">
              <a:solidFill>
                <a:schemeClr val="tx1">
                  <a:lumMod val="50000"/>
                  <a:lumOff val="50000"/>
                </a:schemeClr>
              </a:solidFill>
              <a:latin typeface="Avenir Black" panose="02000503020000020003" pitchFamily="2" charset="0"/>
              <a:ea typeface="+mj-ea"/>
            </a:endParaRPr>
          </a:p>
        </p:txBody>
      </p:sp>
      <p:sp>
        <p:nvSpPr>
          <p:cNvPr id="9" name="Content Placeholder 2">
            <a:extLst>
              <a:ext uri="{FF2B5EF4-FFF2-40B4-BE49-F238E27FC236}">
                <a16:creationId xmlns:a16="http://schemas.microsoft.com/office/drawing/2014/main" id="{3DB7DCF6-75A1-356D-C503-7D6046073805}"/>
              </a:ext>
            </a:extLst>
          </p:cNvPr>
          <p:cNvSpPr>
            <a:spLocks noGrp="1"/>
          </p:cNvSpPr>
          <p:nvPr>
            <p:ph idx="13"/>
          </p:nvPr>
        </p:nvSpPr>
        <p:spPr>
          <a:xfrm>
            <a:off x="4813852" y="-250448"/>
            <a:ext cx="4038600" cy="4114800"/>
          </a:xfrm>
        </p:spPr>
        <p:txBody>
          <a:bodyPr/>
          <a:lstStyle/>
          <a:p>
            <a:pPr marL="0" indent="0">
              <a:spcBef>
                <a:spcPct val="55000"/>
              </a:spcBef>
              <a:buNone/>
            </a:pPr>
            <a:endParaRPr lang="en-US" b="1" dirty="0">
              <a:latin typeface="Avenir Black" panose="02000503020000020003" pitchFamily="2" charset="0"/>
              <a:cs typeface="Avenir Book"/>
            </a:endParaRPr>
          </a:p>
          <a:p>
            <a:pPr marL="0" indent="0" algn="ctr">
              <a:spcBef>
                <a:spcPct val="55000"/>
              </a:spcBef>
              <a:buNone/>
            </a:pPr>
            <a:r>
              <a:rPr lang="en-US" b="1" dirty="0">
                <a:latin typeface="Avenir Black" panose="02000503020000020003" pitchFamily="2" charset="0"/>
                <a:cs typeface="Avenir Book"/>
              </a:rPr>
              <a:t>Self Efficacy Equation – Build It:</a:t>
            </a:r>
          </a:p>
          <a:p>
            <a:pPr marL="0" indent="0" algn="ctr">
              <a:spcBef>
                <a:spcPct val="55000"/>
              </a:spcBef>
              <a:buNone/>
            </a:pPr>
            <a:endParaRPr lang="en-US" b="1" dirty="0">
              <a:latin typeface="Avenir Black" panose="02000503020000020003" pitchFamily="2" charset="0"/>
              <a:cs typeface="Avenir Book"/>
            </a:endParaRPr>
          </a:p>
          <a:p>
            <a:pPr marL="0" indent="0" algn="r">
              <a:spcBef>
                <a:spcPct val="55000"/>
              </a:spcBef>
              <a:buNone/>
            </a:pPr>
            <a:endParaRPr lang="en-US" sz="2000" dirty="0">
              <a:latin typeface="Avenir Book"/>
              <a:cs typeface="Avenir Book"/>
            </a:endParaRPr>
          </a:p>
          <a:p>
            <a:pPr marL="0" indent="0">
              <a:spcBef>
                <a:spcPct val="55000"/>
              </a:spcBef>
              <a:buNone/>
            </a:pPr>
            <a:endParaRPr lang="en-US" sz="2800" dirty="0">
              <a:latin typeface="Avenir Book"/>
              <a:cs typeface="Avenir Book"/>
            </a:endParaRPr>
          </a:p>
          <a:p>
            <a:pPr marL="0" indent="0">
              <a:spcBef>
                <a:spcPct val="55000"/>
              </a:spcBef>
              <a:buNone/>
            </a:pPr>
            <a:endParaRPr lang="en-US" sz="2800" dirty="0">
              <a:latin typeface="Avenir Book"/>
              <a:cs typeface="Avenir Book"/>
            </a:endParaRPr>
          </a:p>
          <a:p>
            <a:endParaRPr lang="en-US" dirty="0">
              <a:latin typeface="Avenir Book"/>
              <a:cs typeface="Avenir Book"/>
            </a:endParaRPr>
          </a:p>
        </p:txBody>
      </p:sp>
      <p:pic>
        <p:nvPicPr>
          <p:cNvPr id="11" name="Picture 10" descr="A picture containing blur&#10;&#10;Description automatically generated">
            <a:extLst>
              <a:ext uri="{FF2B5EF4-FFF2-40B4-BE49-F238E27FC236}">
                <a16:creationId xmlns:a16="http://schemas.microsoft.com/office/drawing/2014/main" id="{4505D94C-FDE7-A913-1B6E-6FA84D0581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 y="0"/>
            <a:ext cx="4635604" cy="6858000"/>
          </a:xfrm>
          <a:prstGeom prst="rect">
            <a:avLst/>
          </a:prstGeom>
        </p:spPr>
      </p:pic>
      <p:sp>
        <p:nvSpPr>
          <p:cNvPr id="2" name="Content Placeholder 2">
            <a:extLst>
              <a:ext uri="{FF2B5EF4-FFF2-40B4-BE49-F238E27FC236}">
                <a16:creationId xmlns:a16="http://schemas.microsoft.com/office/drawing/2014/main" id="{A9B19C53-3484-89CE-F55C-C5B5F615D21F}"/>
              </a:ext>
            </a:extLst>
          </p:cNvPr>
          <p:cNvSpPr txBox="1">
            <a:spLocks/>
          </p:cNvSpPr>
          <p:nvPr/>
        </p:nvSpPr>
        <p:spPr bwMode="auto">
          <a:xfrm>
            <a:off x="4966252" y="1806952"/>
            <a:ext cx="40386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charset="0"/>
              <a:buAutoNum type="arabicPeriod"/>
            </a:pPr>
            <a:r>
              <a:rPr lang="en-US" b="1" dirty="0">
                <a:latin typeface="Avenir Black" panose="02000503020000020003" pitchFamily="2" charset="0"/>
              </a:rPr>
              <a:t>Confidence-building experience</a:t>
            </a:r>
          </a:p>
          <a:p>
            <a:pPr marL="514350" indent="-514350">
              <a:buFont typeface="Arial" charset="0"/>
              <a:buAutoNum type="arabicPeriod"/>
            </a:pPr>
            <a:r>
              <a:rPr lang="en-US" b="1" dirty="0">
                <a:solidFill>
                  <a:srgbClr val="C00000"/>
                </a:solidFill>
                <a:latin typeface="Avenir Black" panose="02000503020000020003" pitchFamily="2" charset="0"/>
              </a:rPr>
              <a:t>Group of mentors </a:t>
            </a:r>
          </a:p>
          <a:p>
            <a:pPr marL="514350" indent="-514350">
              <a:buFont typeface="Arial" charset="0"/>
              <a:buAutoNum type="arabicPeriod"/>
            </a:pPr>
            <a:r>
              <a:rPr lang="en-US" b="1" dirty="0">
                <a:solidFill>
                  <a:srgbClr val="C00000"/>
                </a:solidFill>
                <a:latin typeface="Avenir Black" panose="02000503020000020003" pitchFamily="2" charset="0"/>
              </a:rPr>
              <a:t>What they say to you</a:t>
            </a:r>
          </a:p>
          <a:p>
            <a:pPr marL="514350" indent="-514350">
              <a:buFont typeface="Arial" charset="0"/>
              <a:buAutoNum type="arabicPeriod"/>
            </a:pPr>
            <a:r>
              <a:rPr lang="en-US" b="1" dirty="0">
                <a:latin typeface="Avenir Black" panose="02000503020000020003" pitchFamily="2" charset="0"/>
              </a:rPr>
              <a:t>Jedi Mind-Tricks (</a:t>
            </a:r>
            <a:r>
              <a:rPr lang="en-US" b="1" dirty="0">
                <a:latin typeface="Avenir Black" panose="02000503020000020003" pitchFamily="2" charset="0"/>
                <a:hlinkClick r:id="rId4">
                  <a:extLst>
                    <a:ext uri="{A12FA001-AC4F-418D-AE19-62706E023703}">
                      <ahyp:hlinkClr xmlns:ahyp="http://schemas.microsoft.com/office/drawing/2018/hyperlinkcolor" val="tx"/>
                    </a:ext>
                  </a:extLst>
                </a:hlinkClick>
              </a:rPr>
              <a:t>self-talk</a:t>
            </a:r>
            <a:r>
              <a:rPr lang="en-US" b="1" dirty="0">
                <a:latin typeface="Avenir Black" panose="02000503020000020003" pitchFamily="2" charset="0"/>
              </a:rPr>
              <a:t>)</a:t>
            </a:r>
          </a:p>
        </p:txBody>
      </p:sp>
      <p:pic>
        <p:nvPicPr>
          <p:cNvPr id="3" name="Content Placeholder 5" descr="Long shot of a conference room&#10;&#10;AI-generated content may be incorrect.">
            <a:extLst>
              <a:ext uri="{FF2B5EF4-FFF2-40B4-BE49-F238E27FC236}">
                <a16:creationId xmlns:a16="http://schemas.microsoft.com/office/drawing/2014/main" id="{66E6D6C6-07C8-1A57-A763-8ED85D71289E}"/>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20882" b="16632"/>
          <a:stretch/>
        </p:blipFill>
        <p:spPr>
          <a:xfrm>
            <a:off x="0" y="0"/>
            <a:ext cx="9144000" cy="6858000"/>
          </a:xfrm>
          <a:prstGeom prst="rect">
            <a:avLst/>
          </a:prstGeom>
          <a:noFill/>
        </p:spPr>
      </p:pic>
      <p:pic>
        <p:nvPicPr>
          <p:cNvPr id="12" name="Picture 11" descr="A qr code on a white background&#10;&#10;AI-generated content may be incorrect.">
            <a:extLst>
              <a:ext uri="{FF2B5EF4-FFF2-40B4-BE49-F238E27FC236}">
                <a16:creationId xmlns:a16="http://schemas.microsoft.com/office/drawing/2014/main" id="{F1181328-E9C7-9462-579D-5DE8A00B39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98254" y="2224690"/>
            <a:ext cx="3848100" cy="3810000"/>
          </a:xfrm>
          <a:prstGeom prst="rect">
            <a:avLst/>
          </a:prstGeom>
        </p:spPr>
      </p:pic>
      <p:sp>
        <p:nvSpPr>
          <p:cNvPr id="13" name="Rounded Rectangle 12">
            <a:extLst>
              <a:ext uri="{FF2B5EF4-FFF2-40B4-BE49-F238E27FC236}">
                <a16:creationId xmlns:a16="http://schemas.microsoft.com/office/drawing/2014/main" id="{082EF9AF-A786-3C01-831C-0942A54527DE}"/>
              </a:ext>
            </a:extLst>
          </p:cNvPr>
          <p:cNvSpPr/>
          <p:nvPr/>
        </p:nvSpPr>
        <p:spPr>
          <a:xfrm>
            <a:off x="76200" y="139898"/>
            <a:ext cx="5943600" cy="1582327"/>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Google Shape;77;p16">
            <a:extLst>
              <a:ext uri="{FF2B5EF4-FFF2-40B4-BE49-F238E27FC236}">
                <a16:creationId xmlns:a16="http://schemas.microsoft.com/office/drawing/2014/main" id="{37B98298-6028-371F-4B73-F2F49479B6F5}"/>
              </a:ext>
            </a:extLst>
          </p:cNvPr>
          <p:cNvSpPr txBox="1">
            <a:spLocks noGrp="1"/>
          </p:cNvSpPr>
          <p:nvPr>
            <p:ph type="title"/>
          </p:nvPr>
        </p:nvSpPr>
        <p:spPr>
          <a:xfrm>
            <a:off x="76200" y="265325"/>
            <a:ext cx="8763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4800" b="1" dirty="0">
                <a:latin typeface="Avenir"/>
                <a:ea typeface="Avenir"/>
                <a:cs typeface="Avenir"/>
                <a:sym typeface="Avenir"/>
              </a:rPr>
              <a:t>AI BOA:</a:t>
            </a:r>
            <a:br>
              <a:rPr lang="en" sz="4800" b="1" dirty="0">
                <a:latin typeface="Avenir"/>
                <a:ea typeface="Avenir"/>
                <a:cs typeface="Avenir"/>
                <a:sym typeface="Avenir"/>
              </a:rPr>
            </a:br>
            <a:r>
              <a:rPr lang="en" sz="4800" b="1" dirty="0">
                <a:latin typeface="Avenir"/>
                <a:ea typeface="Avenir"/>
                <a:cs typeface="Avenir"/>
                <a:sym typeface="Avenir"/>
              </a:rPr>
              <a:t>HOW DID IT GO?</a:t>
            </a:r>
            <a:endParaRPr sz="4800" b="1" dirty="0">
              <a:latin typeface="Avenir"/>
              <a:ea typeface="Avenir"/>
              <a:cs typeface="Avenir"/>
              <a:sym typeface="Avenir"/>
            </a:endParaRPr>
          </a:p>
        </p:txBody>
      </p:sp>
    </p:spTree>
    <p:extLst>
      <p:ext uri="{BB962C8B-B14F-4D97-AF65-F5344CB8AC3E}">
        <p14:creationId xmlns:p14="http://schemas.microsoft.com/office/powerpoint/2010/main" val="260205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656C8-4D44-17AB-9E74-47632481DDFD}"/>
            </a:ext>
          </a:extLst>
        </p:cNvPr>
        <p:cNvGrpSpPr/>
        <p:nvPr/>
      </p:nvGrpSpPr>
      <p:grpSpPr>
        <a:xfrm>
          <a:off x="0" y="0"/>
          <a:ext cx="0" cy="0"/>
          <a:chOff x="0" y="0"/>
          <a:chExt cx="0" cy="0"/>
        </a:xfrm>
      </p:grpSpPr>
      <p:sp>
        <p:nvSpPr>
          <p:cNvPr id="6" name="Google Shape;77;p16">
            <a:extLst>
              <a:ext uri="{FF2B5EF4-FFF2-40B4-BE49-F238E27FC236}">
                <a16:creationId xmlns:a16="http://schemas.microsoft.com/office/drawing/2014/main" id="{19E80443-4639-E614-F974-45D397EDD600}"/>
              </a:ext>
            </a:extLst>
          </p:cNvPr>
          <p:cNvSpPr txBox="1">
            <a:spLocks noGrp="1"/>
          </p:cNvSpPr>
          <p:nvPr>
            <p:ph type="title"/>
          </p:nvPr>
        </p:nvSpPr>
        <p:spPr>
          <a:xfrm>
            <a:off x="381000" y="136525"/>
            <a:ext cx="7960895"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RESULTS: Professional Satisfaction + Claude Highest Marks</a:t>
            </a:r>
            <a:endParaRPr sz="3600" b="1" dirty="0">
              <a:solidFill>
                <a:schemeClr val="accent1"/>
              </a:solidFill>
              <a:latin typeface="Avenir"/>
              <a:ea typeface="Avenir"/>
              <a:cs typeface="Avenir"/>
              <a:sym typeface="Avenir"/>
            </a:endParaRPr>
          </a:p>
        </p:txBody>
      </p:sp>
      <p:sp>
        <p:nvSpPr>
          <p:cNvPr id="5" name="Footer Placeholder 4">
            <a:extLst>
              <a:ext uri="{FF2B5EF4-FFF2-40B4-BE49-F238E27FC236}">
                <a16:creationId xmlns:a16="http://schemas.microsoft.com/office/drawing/2014/main" id="{925B32D3-8781-36E9-8C2B-E8B8DCF0E543}"/>
              </a:ext>
            </a:extLst>
          </p:cNvPr>
          <p:cNvSpPr>
            <a:spLocks noGrp="1"/>
          </p:cNvSpPr>
          <p:nvPr>
            <p:ph type="ftr" sz="quarter" idx="11"/>
          </p:nvPr>
        </p:nvSpPr>
        <p:spPr/>
        <p:txBody>
          <a:bodyPr/>
          <a:lstStyle/>
          <a:p>
            <a:r>
              <a:rPr lang="en-US" dirty="0"/>
              <a:t>Copyright Katherine Korman Frey </a:t>
            </a:r>
            <a:endParaRPr lang="en-US" sz="1000" dirty="0"/>
          </a:p>
        </p:txBody>
      </p:sp>
      <p:pic>
        <p:nvPicPr>
          <p:cNvPr id="9" name="Content Placeholder 8" descr="A screenshot of a graph&#10;&#10;AI-generated content may be incorrect.">
            <a:extLst>
              <a:ext uri="{FF2B5EF4-FFF2-40B4-BE49-F238E27FC236}">
                <a16:creationId xmlns:a16="http://schemas.microsoft.com/office/drawing/2014/main" id="{4A3EA941-7911-34C3-F3DB-69FEA3AFBC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25417" y="2023690"/>
            <a:ext cx="9018583" cy="4332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096839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CE7C5-D91E-5C02-584C-5C0D211DE3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8443FA-C980-801E-711D-837C1F747AA3}"/>
              </a:ext>
            </a:extLst>
          </p:cNvPr>
          <p:cNvSpPr>
            <a:spLocks noGrp="1"/>
          </p:cNvSpPr>
          <p:nvPr>
            <p:ph idx="1"/>
          </p:nvPr>
        </p:nvSpPr>
        <p:spPr>
          <a:xfrm>
            <a:off x="344905" y="1760955"/>
            <a:ext cx="6019800" cy="4191000"/>
          </a:xfrm>
        </p:spPr>
        <p:txBody>
          <a:bodyPr/>
          <a:lstStyle/>
          <a:p>
            <a:r>
              <a:rPr lang="en-US" sz="2400" b="1" dirty="0"/>
              <a:t>Student: Undergraduate, Marketing / Entrepreneurship</a:t>
            </a:r>
            <a:endParaRPr lang="en-US" sz="2400" dirty="0"/>
          </a:p>
          <a:p>
            <a:r>
              <a:rPr lang="en-US" sz="2400" b="1" dirty="0"/>
              <a:t>Student goal (prompt): </a:t>
            </a:r>
            <a:r>
              <a:rPr lang="en-US" sz="2400" dirty="0"/>
              <a:t>"I want to be a </a:t>
            </a:r>
            <a:r>
              <a:rPr lang="en-US" sz="2400" dirty="0">
                <a:highlight>
                  <a:srgbClr val="00FFFF"/>
                </a:highlight>
              </a:rPr>
              <a:t>CEO of a fashion or lifestyle brand within 10 years</a:t>
            </a:r>
            <a:r>
              <a:rPr lang="en-US" sz="2400" dirty="0"/>
              <a:t>. I'm good at marketing and brand storytelling but weak on finance and operations."</a:t>
            </a:r>
          </a:p>
          <a:p>
            <a:r>
              <a:rPr lang="en-US" sz="2400" b="1" dirty="0"/>
              <a:t>AI tool used: </a:t>
            </a:r>
            <a:r>
              <a:rPr lang="en-US" sz="2400" dirty="0">
                <a:highlight>
                  <a:srgbClr val="00FFFF"/>
                </a:highlight>
              </a:rPr>
              <a:t>ChatGPT</a:t>
            </a:r>
          </a:p>
          <a:p>
            <a:r>
              <a:rPr lang="en-US" sz="2400" b="1" dirty="0">
                <a:highlight>
                  <a:srgbClr val="00FFFF"/>
                </a:highlight>
              </a:rPr>
              <a:t>Student satisfaction: </a:t>
            </a:r>
            <a:r>
              <a:rPr lang="en-US" sz="2400" dirty="0">
                <a:highlight>
                  <a:srgbClr val="00FFFF"/>
                </a:highlight>
              </a:rPr>
              <a:t>4 / 5</a:t>
            </a:r>
          </a:p>
          <a:p>
            <a:pPr marL="457200" lvl="1" indent="0">
              <a:buNone/>
            </a:pPr>
            <a:endParaRPr lang="en-US" sz="2400" b="1" kern="0" dirty="0">
              <a:latin typeface="Avenir Book" panose="02000503020000020003" pitchFamily="2" charset="0"/>
            </a:endParaRPr>
          </a:p>
          <a:p>
            <a:pPr marL="457200" lvl="1" indent="0">
              <a:buNone/>
            </a:pPr>
            <a:endParaRPr lang="en-US" sz="2400"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408E256A-795B-479F-DCB8-31A158066BF1}"/>
              </a:ext>
            </a:extLst>
          </p:cNvPr>
          <p:cNvSpPr txBox="1">
            <a:spLocks noGrp="1"/>
          </p:cNvSpPr>
          <p:nvPr>
            <p:ph type="title"/>
          </p:nvPr>
        </p:nvSpPr>
        <p:spPr>
          <a:xfrm>
            <a:off x="344905" y="-14245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RESULTS: Sample Board 1</a:t>
            </a:r>
            <a:endParaRPr sz="3600" b="1" dirty="0">
              <a:solidFill>
                <a:schemeClr val="accent1"/>
              </a:solidFill>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9B8C048E-A525-2BBF-E8AE-60ED224A5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475C4695-3055-4006-2B3F-F25E2D924E15}"/>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1468610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40C0-9494-4BFB-FDAD-43B7620B3E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194C32-BA2B-C31F-4FCE-84F45E2B21A4}"/>
              </a:ext>
            </a:extLst>
          </p:cNvPr>
          <p:cNvSpPr>
            <a:spLocks noGrp="1"/>
          </p:cNvSpPr>
          <p:nvPr>
            <p:ph idx="1"/>
          </p:nvPr>
        </p:nvSpPr>
        <p:spPr>
          <a:xfrm>
            <a:off x="344905" y="1760955"/>
            <a:ext cx="6019800" cy="4191000"/>
          </a:xfrm>
        </p:spPr>
        <p:txBody>
          <a:bodyPr/>
          <a:lstStyle/>
          <a:p>
            <a:pPr marL="457200" lvl="1" indent="0">
              <a:buNone/>
            </a:pPr>
            <a:endParaRPr lang="en-US" sz="2400" b="1" kern="0" dirty="0">
              <a:latin typeface="Avenir Book" panose="02000503020000020003" pitchFamily="2" charset="0"/>
            </a:endParaRPr>
          </a:p>
          <a:p>
            <a:pPr marL="457200" lvl="1" indent="0">
              <a:buNone/>
            </a:pPr>
            <a:endParaRPr lang="en-US" sz="2400"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EFA02EFD-17E9-632E-7D4F-54B8C7348CCB}"/>
              </a:ext>
            </a:extLst>
          </p:cNvPr>
          <p:cNvSpPr txBox="1">
            <a:spLocks noGrp="1"/>
          </p:cNvSpPr>
          <p:nvPr>
            <p:ph type="title"/>
          </p:nvPr>
        </p:nvSpPr>
        <p:spPr>
          <a:xfrm>
            <a:off x="344905" y="-14245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Sample Board 1</a:t>
            </a:r>
            <a:endParaRPr sz="3600" b="1" dirty="0">
              <a:solidFill>
                <a:schemeClr val="accent1"/>
              </a:solidFill>
              <a:latin typeface="Avenir"/>
              <a:ea typeface="Avenir"/>
              <a:cs typeface="Avenir"/>
              <a:sym typeface="Avenir"/>
            </a:endParaRPr>
          </a:p>
        </p:txBody>
      </p:sp>
      <p:sp>
        <p:nvSpPr>
          <p:cNvPr id="5" name="Footer Placeholder 4">
            <a:extLst>
              <a:ext uri="{FF2B5EF4-FFF2-40B4-BE49-F238E27FC236}">
                <a16:creationId xmlns:a16="http://schemas.microsoft.com/office/drawing/2014/main" id="{C2517C43-8FCA-6B72-BFDB-893DF659D356}"/>
              </a:ext>
            </a:extLst>
          </p:cNvPr>
          <p:cNvSpPr>
            <a:spLocks noGrp="1"/>
          </p:cNvSpPr>
          <p:nvPr>
            <p:ph type="ftr" sz="quarter" idx="11"/>
          </p:nvPr>
        </p:nvSpPr>
        <p:spPr/>
        <p:txBody>
          <a:bodyPr/>
          <a:lstStyle/>
          <a:p>
            <a:r>
              <a:rPr lang="en-US" dirty="0"/>
              <a:t>Copyright Katherine Korman Frey </a:t>
            </a:r>
            <a:endParaRPr lang="en-US" sz="1000" dirty="0"/>
          </a:p>
        </p:txBody>
      </p:sp>
      <p:pic>
        <p:nvPicPr>
          <p:cNvPr id="7" name="Picture 6" descr="A close-up of a table&#10;&#10;AI-generated content may be incorrect.">
            <a:extLst>
              <a:ext uri="{FF2B5EF4-FFF2-40B4-BE49-F238E27FC236}">
                <a16:creationId xmlns:a16="http://schemas.microsoft.com/office/drawing/2014/main" id="{87C39A48-E5F8-9D85-261D-01C748A65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20" y="1760955"/>
            <a:ext cx="8991601" cy="4036182"/>
          </a:xfrm>
          <a:prstGeom prst="rect">
            <a:avLst/>
          </a:prstGeom>
        </p:spPr>
      </p:pic>
    </p:spTree>
    <p:extLst>
      <p:ext uri="{BB962C8B-B14F-4D97-AF65-F5344CB8AC3E}">
        <p14:creationId xmlns:p14="http://schemas.microsoft.com/office/powerpoint/2010/main" val="1722264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A3A65-6F47-3CAD-1D69-61D1BD24D6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47268A-8CAA-C367-F61A-E726DB95E2D5}"/>
              </a:ext>
            </a:extLst>
          </p:cNvPr>
          <p:cNvSpPr>
            <a:spLocks noGrp="1"/>
          </p:cNvSpPr>
          <p:nvPr>
            <p:ph idx="1"/>
          </p:nvPr>
        </p:nvSpPr>
        <p:spPr>
          <a:xfrm>
            <a:off x="344905" y="1760955"/>
            <a:ext cx="6019800" cy="4191000"/>
          </a:xfrm>
        </p:spPr>
        <p:txBody>
          <a:bodyPr/>
          <a:lstStyle/>
          <a:p>
            <a:r>
              <a:rPr lang="en-US" sz="2400" b="1" dirty="0"/>
              <a:t>Student: Graduate Student, International Business / Impact Investing</a:t>
            </a:r>
            <a:endParaRPr lang="en-US" sz="2400" dirty="0"/>
          </a:p>
          <a:p>
            <a:r>
              <a:rPr lang="en-US" sz="2400" b="1" dirty="0"/>
              <a:t>Student goal (prompt): </a:t>
            </a:r>
            <a:r>
              <a:rPr lang="en-US" sz="2400" dirty="0"/>
              <a:t>"I'm building </a:t>
            </a:r>
            <a:r>
              <a:rPr lang="en-US" sz="2400" dirty="0">
                <a:highlight>
                  <a:srgbClr val="00FFFF"/>
                </a:highlight>
              </a:rPr>
              <a:t>a dairy farming operation in Zimbabwe</a:t>
            </a:r>
            <a:r>
              <a:rPr lang="en-US" sz="2400" dirty="0"/>
              <a:t> with a 3-year plan to raise $500K in impact capital. I need help with financial modeling, investor relations, and navigating the political and regulatory environment in MENA/Africa."</a:t>
            </a:r>
          </a:p>
          <a:p>
            <a:r>
              <a:rPr lang="en-US" sz="2400" b="1" dirty="0"/>
              <a:t>AI tool used</a:t>
            </a:r>
            <a:r>
              <a:rPr lang="en-US" sz="2400" b="1" dirty="0">
                <a:highlight>
                  <a:srgbClr val="00FFFF"/>
                </a:highlight>
              </a:rPr>
              <a:t>: </a:t>
            </a:r>
            <a:r>
              <a:rPr lang="en-US" sz="2400" dirty="0">
                <a:highlight>
                  <a:srgbClr val="00FFFF"/>
                </a:highlight>
              </a:rPr>
              <a:t>Claude</a:t>
            </a:r>
          </a:p>
          <a:p>
            <a:r>
              <a:rPr lang="en-US" sz="2400" b="1" dirty="0">
                <a:highlight>
                  <a:srgbClr val="00FFFF"/>
                </a:highlight>
              </a:rPr>
              <a:t>Student satisfaction: </a:t>
            </a:r>
            <a:r>
              <a:rPr lang="en-US" sz="2400" dirty="0">
                <a:highlight>
                  <a:srgbClr val="00FFFF"/>
                </a:highlight>
              </a:rPr>
              <a:t>5 / 5 </a:t>
            </a:r>
            <a:endParaRPr lang="en-US" sz="2400" b="1" kern="0" dirty="0">
              <a:highlight>
                <a:srgbClr val="00FFFF"/>
              </a:highlight>
              <a:latin typeface="Avenir Book" panose="02000503020000020003" pitchFamily="2" charset="0"/>
            </a:endParaRPr>
          </a:p>
          <a:p>
            <a:pPr marL="457200" lvl="1" indent="0">
              <a:buNone/>
            </a:pPr>
            <a:endParaRPr lang="en-US" sz="2400"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0A221173-8EC5-FA60-9DF3-043EAF81A164}"/>
              </a:ext>
            </a:extLst>
          </p:cNvPr>
          <p:cNvSpPr txBox="1">
            <a:spLocks noGrp="1"/>
          </p:cNvSpPr>
          <p:nvPr>
            <p:ph type="title"/>
          </p:nvPr>
        </p:nvSpPr>
        <p:spPr>
          <a:xfrm>
            <a:off x="344905" y="-14245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RESULTS: Sample Board 2</a:t>
            </a:r>
            <a:endParaRPr sz="3600" b="1" dirty="0">
              <a:solidFill>
                <a:schemeClr val="accent1"/>
              </a:solidFill>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BE6B0699-4B44-CE52-290A-E1D91708D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6EA2AD53-87C3-14DC-3FE5-99E5C6A4CB77}"/>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2963663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25AD3-2CC3-C90B-3B02-5FC4AEC5BD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55FF1-13CF-015B-0B60-2043FE33EBC4}"/>
              </a:ext>
            </a:extLst>
          </p:cNvPr>
          <p:cNvSpPr>
            <a:spLocks noGrp="1"/>
          </p:cNvSpPr>
          <p:nvPr>
            <p:ph idx="1"/>
          </p:nvPr>
        </p:nvSpPr>
        <p:spPr>
          <a:xfrm>
            <a:off x="344905" y="1760955"/>
            <a:ext cx="6019800" cy="4191000"/>
          </a:xfrm>
        </p:spPr>
        <p:txBody>
          <a:bodyPr/>
          <a:lstStyle/>
          <a:p>
            <a:pPr marL="457200" lvl="1" indent="0">
              <a:buNone/>
            </a:pPr>
            <a:endParaRPr lang="en-US" sz="2400" b="1" kern="0" dirty="0">
              <a:latin typeface="Avenir Book" panose="02000503020000020003" pitchFamily="2" charset="0"/>
            </a:endParaRPr>
          </a:p>
          <a:p>
            <a:pPr marL="457200" lvl="1" indent="0">
              <a:buNone/>
            </a:pPr>
            <a:endParaRPr lang="en-US" sz="2400"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7BE83B0D-A9A5-C334-374E-20F94EEA73A8}"/>
              </a:ext>
            </a:extLst>
          </p:cNvPr>
          <p:cNvSpPr txBox="1">
            <a:spLocks noGrp="1"/>
          </p:cNvSpPr>
          <p:nvPr>
            <p:ph type="title"/>
          </p:nvPr>
        </p:nvSpPr>
        <p:spPr>
          <a:xfrm>
            <a:off x="344905" y="-14245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Sample Board 2</a:t>
            </a:r>
            <a:endParaRPr sz="3600" b="1" dirty="0">
              <a:solidFill>
                <a:schemeClr val="accent1"/>
              </a:solidFill>
              <a:latin typeface="Avenir"/>
              <a:ea typeface="Avenir"/>
              <a:cs typeface="Avenir"/>
              <a:sym typeface="Avenir"/>
            </a:endParaRPr>
          </a:p>
        </p:txBody>
      </p:sp>
      <p:sp>
        <p:nvSpPr>
          <p:cNvPr id="5" name="Footer Placeholder 4">
            <a:extLst>
              <a:ext uri="{FF2B5EF4-FFF2-40B4-BE49-F238E27FC236}">
                <a16:creationId xmlns:a16="http://schemas.microsoft.com/office/drawing/2014/main" id="{CDEC12A4-6111-79E8-2F52-FF488A592E88}"/>
              </a:ext>
            </a:extLst>
          </p:cNvPr>
          <p:cNvSpPr>
            <a:spLocks noGrp="1"/>
          </p:cNvSpPr>
          <p:nvPr>
            <p:ph type="ftr" sz="quarter" idx="11"/>
          </p:nvPr>
        </p:nvSpPr>
        <p:spPr/>
        <p:txBody>
          <a:bodyPr/>
          <a:lstStyle/>
          <a:p>
            <a:r>
              <a:rPr lang="en-US" dirty="0"/>
              <a:t>Copyright Katherine Korman Frey </a:t>
            </a:r>
            <a:endParaRPr lang="en-US" sz="1000" dirty="0"/>
          </a:p>
        </p:txBody>
      </p:sp>
      <p:pic>
        <p:nvPicPr>
          <p:cNvPr id="7" name="Picture 6" descr="A table with text on it&#10;&#10;AI-generated content may be incorrect.">
            <a:extLst>
              <a:ext uri="{FF2B5EF4-FFF2-40B4-BE49-F238E27FC236}">
                <a16:creationId xmlns:a16="http://schemas.microsoft.com/office/drawing/2014/main" id="{2114AB56-12E1-D420-6A79-E5573F405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15" y="1352965"/>
            <a:ext cx="8698480" cy="5006979"/>
          </a:xfrm>
          <a:prstGeom prst="rect">
            <a:avLst/>
          </a:prstGeom>
        </p:spPr>
      </p:pic>
    </p:spTree>
    <p:extLst>
      <p:ext uri="{BB962C8B-B14F-4D97-AF65-F5344CB8AC3E}">
        <p14:creationId xmlns:p14="http://schemas.microsoft.com/office/powerpoint/2010/main" val="704853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A2CC9-D382-1CF0-112C-0315120D17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13E8A2-DCDF-BB52-A9FF-9BAD5E832A34}"/>
              </a:ext>
            </a:extLst>
          </p:cNvPr>
          <p:cNvSpPr>
            <a:spLocks noGrp="1"/>
          </p:cNvSpPr>
          <p:nvPr>
            <p:ph idx="1"/>
          </p:nvPr>
        </p:nvSpPr>
        <p:spPr>
          <a:xfrm>
            <a:off x="344905" y="1752600"/>
            <a:ext cx="6019800" cy="4191000"/>
          </a:xfrm>
        </p:spPr>
        <p:txBody>
          <a:bodyPr/>
          <a:lstStyle/>
          <a:p>
            <a:pPr marL="457200" marR="0" lvl="1" indent="0">
              <a:buNone/>
            </a:pPr>
            <a:r>
              <a:rPr lang="en-US" dirty="0"/>
              <a:t>Success correlation: The more specific the student's prompt, the more targeted and actionable the board.</a:t>
            </a:r>
          </a:p>
          <a:p>
            <a:pPr marL="457200" marR="0" lvl="1" indent="0">
              <a:buNone/>
            </a:pPr>
            <a:endParaRPr lang="en-US" kern="0" dirty="0">
              <a:latin typeface="Avenir Book" panose="02000503020000020003" pitchFamily="2" charset="0"/>
            </a:endParaRPr>
          </a:p>
          <a:p>
            <a:pPr marL="457200" marR="0" lvl="1" indent="0">
              <a:buNone/>
            </a:pPr>
            <a:r>
              <a:rPr lang="en-US" kern="0" dirty="0">
                <a:latin typeface="Avenir Book" panose="02000503020000020003" pitchFamily="2" charset="0"/>
              </a:rPr>
              <a:t>Limitations: </a:t>
            </a:r>
            <a:r>
              <a:rPr lang="en-US" dirty="0"/>
              <a:t>AI couldn't fully account for IRL specifics (e.g., on-the-ground political complexity in Zimbabwe).</a:t>
            </a:r>
            <a:endParaRPr lang="en-US"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457200" lvl="1" indent="0">
              <a:buNone/>
            </a:pPr>
            <a:endParaRPr lang="en-US" b="1" kern="0" dirty="0">
              <a:latin typeface="Avenir Book" panose="02000503020000020003" pitchFamily="2" charset="0"/>
            </a:endParaRPr>
          </a:p>
          <a:p>
            <a:pPr marL="0" indent="0">
              <a:buNone/>
            </a:pPr>
            <a:endParaRPr lang="en-US" sz="2800" dirty="0"/>
          </a:p>
        </p:txBody>
      </p:sp>
      <p:sp>
        <p:nvSpPr>
          <p:cNvPr id="6" name="Google Shape;77;p16">
            <a:extLst>
              <a:ext uri="{FF2B5EF4-FFF2-40B4-BE49-F238E27FC236}">
                <a16:creationId xmlns:a16="http://schemas.microsoft.com/office/drawing/2014/main" id="{3416748F-90F1-030A-823F-C57C16D61AC4}"/>
              </a:ext>
            </a:extLst>
          </p:cNvPr>
          <p:cNvSpPr txBox="1">
            <a:spLocks noGrp="1"/>
          </p:cNvSpPr>
          <p:nvPr>
            <p:ph type="title"/>
          </p:nvPr>
        </p:nvSpPr>
        <p:spPr>
          <a:xfrm>
            <a:off x="344905" y="-142450"/>
            <a:ext cx="6477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3600" b="1" dirty="0">
                <a:solidFill>
                  <a:schemeClr val="accent1"/>
                </a:solidFill>
                <a:latin typeface="Avenir"/>
                <a:ea typeface="Avenir"/>
                <a:cs typeface="Avenir"/>
                <a:sym typeface="Avenir"/>
              </a:rPr>
              <a:t>RESULTS</a:t>
            </a:r>
            <a:endParaRPr sz="3600" b="1" dirty="0">
              <a:solidFill>
                <a:schemeClr val="accent1"/>
              </a:solidFill>
              <a:latin typeface="Avenir"/>
              <a:ea typeface="Avenir"/>
              <a:cs typeface="Avenir"/>
              <a:sym typeface="Avenir"/>
            </a:endParaRPr>
          </a:p>
        </p:txBody>
      </p:sp>
      <p:pic>
        <p:nvPicPr>
          <p:cNvPr id="2" name="Picture 1" descr="A conference table with chairs in a room&#10;&#10;AI-generated content may be incorrect.">
            <a:extLst>
              <a:ext uri="{FF2B5EF4-FFF2-40B4-BE49-F238E27FC236}">
                <a16:creationId xmlns:a16="http://schemas.microsoft.com/office/drawing/2014/main" id="{EAB80781-D99C-880F-595D-6DA7FE26D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0"/>
            <a:ext cx="2286000" cy="6857999"/>
          </a:xfrm>
          <a:prstGeom prst="rect">
            <a:avLst/>
          </a:prstGeom>
        </p:spPr>
      </p:pic>
      <p:sp>
        <p:nvSpPr>
          <p:cNvPr id="5" name="Footer Placeholder 4">
            <a:extLst>
              <a:ext uri="{FF2B5EF4-FFF2-40B4-BE49-F238E27FC236}">
                <a16:creationId xmlns:a16="http://schemas.microsoft.com/office/drawing/2014/main" id="{B5E9548A-B190-3A58-5D86-D1913CA8CAC0}"/>
              </a:ext>
            </a:extLst>
          </p:cNvPr>
          <p:cNvSpPr>
            <a:spLocks noGrp="1"/>
          </p:cNvSpPr>
          <p:nvPr>
            <p:ph type="ftr" sz="quarter" idx="11"/>
          </p:nvPr>
        </p:nvSpPr>
        <p:spPr/>
        <p:txBody>
          <a:bodyPr/>
          <a:lstStyle/>
          <a:p>
            <a:r>
              <a:rPr lang="en-US" dirty="0"/>
              <a:t>Copyright Katherine Korman Frey </a:t>
            </a:r>
            <a:endParaRPr lang="en-US" sz="1000" dirty="0"/>
          </a:p>
        </p:txBody>
      </p:sp>
    </p:spTree>
    <p:extLst>
      <p:ext uri="{BB962C8B-B14F-4D97-AF65-F5344CB8AC3E}">
        <p14:creationId xmlns:p14="http://schemas.microsoft.com/office/powerpoint/2010/main" val="2738851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C11E9-0D24-4FAA-2BA3-7B94DF797B7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AA3A75D-E0F0-C1A4-623E-C3BDF611282E}"/>
              </a:ext>
            </a:extLst>
          </p:cNvPr>
          <p:cNvSpPr>
            <a:spLocks noGrp="1"/>
          </p:cNvSpPr>
          <p:nvPr>
            <p:ph type="sldNum" sz="quarter" idx="14"/>
          </p:nvPr>
        </p:nvSpPr>
        <p:spPr/>
        <p:txBody>
          <a:bodyPr/>
          <a:lstStyle/>
          <a:p>
            <a:pPr>
              <a:defRPr/>
            </a:pPr>
            <a:fld id="{F8741D65-C386-044D-887D-07A47F83AF09}" type="slidenum">
              <a:rPr lang="en-US" smtClean="0"/>
              <a:pPr>
                <a:defRPr/>
              </a:pPr>
              <a:t>29</a:t>
            </a:fld>
            <a:endParaRPr lang="en-US"/>
          </a:p>
        </p:txBody>
      </p:sp>
      <p:sp>
        <p:nvSpPr>
          <p:cNvPr id="10" name="Rectangle 3">
            <a:extLst>
              <a:ext uri="{FF2B5EF4-FFF2-40B4-BE49-F238E27FC236}">
                <a16:creationId xmlns:a16="http://schemas.microsoft.com/office/drawing/2014/main" id="{918ADC95-5B79-41F1-DD72-CA1C75428FF4}"/>
              </a:ext>
            </a:extLst>
          </p:cNvPr>
          <p:cNvSpPr txBox="1">
            <a:spLocks noChangeArrowheads="1"/>
          </p:cNvSpPr>
          <p:nvPr/>
        </p:nvSpPr>
        <p:spPr>
          <a:xfrm>
            <a:off x="4661452" y="981902"/>
            <a:ext cx="4343400" cy="547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42950" indent="-742950">
              <a:buAutoNum type="arabicPeriod"/>
            </a:pPr>
            <a:endParaRPr lang="en-US" sz="3600" b="1" dirty="0">
              <a:solidFill>
                <a:schemeClr val="tx1">
                  <a:lumMod val="50000"/>
                  <a:lumOff val="50000"/>
                </a:schemeClr>
              </a:solidFill>
              <a:latin typeface="Avenir Black" panose="02000503020000020003" pitchFamily="2" charset="0"/>
              <a:ea typeface="+mj-ea"/>
            </a:endParaRPr>
          </a:p>
        </p:txBody>
      </p:sp>
      <p:sp>
        <p:nvSpPr>
          <p:cNvPr id="9" name="Content Placeholder 2">
            <a:extLst>
              <a:ext uri="{FF2B5EF4-FFF2-40B4-BE49-F238E27FC236}">
                <a16:creationId xmlns:a16="http://schemas.microsoft.com/office/drawing/2014/main" id="{5125D0E1-4913-487D-D65E-B68BAA3B9F3C}"/>
              </a:ext>
            </a:extLst>
          </p:cNvPr>
          <p:cNvSpPr>
            <a:spLocks noGrp="1"/>
          </p:cNvSpPr>
          <p:nvPr>
            <p:ph idx="13"/>
          </p:nvPr>
        </p:nvSpPr>
        <p:spPr>
          <a:xfrm>
            <a:off x="4813852" y="-250448"/>
            <a:ext cx="4038600" cy="4114800"/>
          </a:xfrm>
        </p:spPr>
        <p:txBody>
          <a:bodyPr/>
          <a:lstStyle/>
          <a:p>
            <a:pPr marL="0" indent="0">
              <a:spcBef>
                <a:spcPct val="55000"/>
              </a:spcBef>
              <a:buNone/>
            </a:pPr>
            <a:endParaRPr lang="en-US" b="1" dirty="0">
              <a:latin typeface="Avenir Black" panose="02000503020000020003" pitchFamily="2" charset="0"/>
              <a:cs typeface="Avenir Book"/>
            </a:endParaRPr>
          </a:p>
          <a:p>
            <a:pPr marL="0" indent="0" algn="ctr">
              <a:spcBef>
                <a:spcPct val="55000"/>
              </a:spcBef>
              <a:buNone/>
            </a:pPr>
            <a:r>
              <a:rPr lang="en-US" b="1" dirty="0">
                <a:latin typeface="Avenir Black" panose="02000503020000020003" pitchFamily="2" charset="0"/>
                <a:cs typeface="Avenir Book"/>
              </a:rPr>
              <a:t>Self Efficacy Equation – Build It:</a:t>
            </a:r>
          </a:p>
          <a:p>
            <a:pPr marL="0" indent="0" algn="ctr">
              <a:spcBef>
                <a:spcPct val="55000"/>
              </a:spcBef>
              <a:buNone/>
            </a:pPr>
            <a:endParaRPr lang="en-US" b="1" dirty="0">
              <a:latin typeface="Avenir Black" panose="02000503020000020003" pitchFamily="2" charset="0"/>
              <a:cs typeface="Avenir Book"/>
            </a:endParaRPr>
          </a:p>
          <a:p>
            <a:pPr marL="0" indent="0" algn="r">
              <a:spcBef>
                <a:spcPct val="55000"/>
              </a:spcBef>
              <a:buNone/>
            </a:pPr>
            <a:endParaRPr lang="en-US" sz="2000" dirty="0">
              <a:latin typeface="Avenir Book"/>
              <a:cs typeface="Avenir Book"/>
            </a:endParaRPr>
          </a:p>
          <a:p>
            <a:pPr marL="0" indent="0">
              <a:spcBef>
                <a:spcPct val="55000"/>
              </a:spcBef>
              <a:buNone/>
            </a:pPr>
            <a:endParaRPr lang="en-US" sz="2800" dirty="0">
              <a:latin typeface="Avenir Book"/>
              <a:cs typeface="Avenir Book"/>
            </a:endParaRPr>
          </a:p>
          <a:p>
            <a:pPr marL="0" indent="0">
              <a:spcBef>
                <a:spcPct val="55000"/>
              </a:spcBef>
              <a:buNone/>
            </a:pPr>
            <a:endParaRPr lang="en-US" sz="2800" dirty="0">
              <a:latin typeface="Avenir Book"/>
              <a:cs typeface="Avenir Book"/>
            </a:endParaRPr>
          </a:p>
          <a:p>
            <a:endParaRPr lang="en-US" dirty="0">
              <a:latin typeface="Avenir Book"/>
              <a:cs typeface="Avenir Book"/>
            </a:endParaRPr>
          </a:p>
        </p:txBody>
      </p:sp>
      <p:pic>
        <p:nvPicPr>
          <p:cNvPr id="11" name="Picture 10" descr="A picture containing blur&#10;&#10;Description automatically generated">
            <a:extLst>
              <a:ext uri="{FF2B5EF4-FFF2-40B4-BE49-F238E27FC236}">
                <a16:creationId xmlns:a16="http://schemas.microsoft.com/office/drawing/2014/main" id="{7D4A76FB-F983-97E0-3E69-2C7B99F4F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3" y="0"/>
            <a:ext cx="4635604" cy="6858000"/>
          </a:xfrm>
          <a:prstGeom prst="rect">
            <a:avLst/>
          </a:prstGeom>
        </p:spPr>
      </p:pic>
      <p:sp>
        <p:nvSpPr>
          <p:cNvPr id="2" name="Content Placeholder 2">
            <a:extLst>
              <a:ext uri="{FF2B5EF4-FFF2-40B4-BE49-F238E27FC236}">
                <a16:creationId xmlns:a16="http://schemas.microsoft.com/office/drawing/2014/main" id="{E6536731-0618-F960-727B-395DEA84D9AE}"/>
              </a:ext>
            </a:extLst>
          </p:cNvPr>
          <p:cNvSpPr txBox="1">
            <a:spLocks/>
          </p:cNvSpPr>
          <p:nvPr/>
        </p:nvSpPr>
        <p:spPr bwMode="auto">
          <a:xfrm>
            <a:off x="4966252" y="1806952"/>
            <a:ext cx="40386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charset="0"/>
              <a:buAutoNum type="arabicPeriod"/>
            </a:pPr>
            <a:r>
              <a:rPr lang="en-US" b="1" dirty="0">
                <a:latin typeface="Avenir Black" panose="02000503020000020003" pitchFamily="2" charset="0"/>
              </a:rPr>
              <a:t>Confidence-building experience</a:t>
            </a:r>
          </a:p>
          <a:p>
            <a:pPr marL="514350" indent="-514350">
              <a:buFont typeface="Arial" charset="0"/>
              <a:buAutoNum type="arabicPeriod"/>
            </a:pPr>
            <a:r>
              <a:rPr lang="en-US" b="1" dirty="0">
                <a:solidFill>
                  <a:srgbClr val="C00000"/>
                </a:solidFill>
                <a:latin typeface="Avenir Black" panose="02000503020000020003" pitchFamily="2" charset="0"/>
              </a:rPr>
              <a:t>Group of mentors </a:t>
            </a:r>
          </a:p>
          <a:p>
            <a:pPr marL="514350" indent="-514350">
              <a:buFont typeface="Arial" charset="0"/>
              <a:buAutoNum type="arabicPeriod"/>
            </a:pPr>
            <a:r>
              <a:rPr lang="en-US" b="1" dirty="0">
                <a:solidFill>
                  <a:srgbClr val="C00000"/>
                </a:solidFill>
                <a:latin typeface="Avenir Black" panose="02000503020000020003" pitchFamily="2" charset="0"/>
              </a:rPr>
              <a:t>What they say to you</a:t>
            </a:r>
          </a:p>
          <a:p>
            <a:pPr marL="514350" indent="-514350">
              <a:buFont typeface="Arial" charset="0"/>
              <a:buAutoNum type="arabicPeriod"/>
            </a:pPr>
            <a:r>
              <a:rPr lang="en-US" b="1" dirty="0">
                <a:latin typeface="Avenir Black" panose="02000503020000020003" pitchFamily="2" charset="0"/>
              </a:rPr>
              <a:t>Jedi Mind-Tricks (</a:t>
            </a:r>
            <a:r>
              <a:rPr lang="en-US" b="1" dirty="0">
                <a:latin typeface="Avenir Black" panose="02000503020000020003" pitchFamily="2" charset="0"/>
                <a:hlinkClick r:id="rId4">
                  <a:extLst>
                    <a:ext uri="{A12FA001-AC4F-418D-AE19-62706E023703}">
                      <ahyp:hlinkClr xmlns:ahyp="http://schemas.microsoft.com/office/drawing/2018/hyperlinkcolor" val="tx"/>
                    </a:ext>
                  </a:extLst>
                </a:hlinkClick>
              </a:rPr>
              <a:t>self-talk</a:t>
            </a:r>
            <a:r>
              <a:rPr lang="en-US" b="1" dirty="0">
                <a:latin typeface="Avenir Black" panose="02000503020000020003" pitchFamily="2" charset="0"/>
              </a:rPr>
              <a:t>)</a:t>
            </a:r>
          </a:p>
        </p:txBody>
      </p:sp>
      <p:pic>
        <p:nvPicPr>
          <p:cNvPr id="3" name="Content Placeholder 5" descr="Long shot of a conference room&#10;&#10;AI-generated content may be incorrect.">
            <a:extLst>
              <a:ext uri="{FF2B5EF4-FFF2-40B4-BE49-F238E27FC236}">
                <a16:creationId xmlns:a16="http://schemas.microsoft.com/office/drawing/2014/main" id="{784C1DDF-6F91-26A9-8518-7E5F8DDFC8FF}"/>
              </a:ext>
            </a:extLst>
          </p:cNvPr>
          <p:cNvPicPr>
            <a:picLocks noChangeAspect="1"/>
          </p:cNvPicPr>
          <p:nvPr/>
        </p:nvPicPr>
        <p:blipFill>
          <a:blip r:embed="rId5">
            <a:duotone>
              <a:prstClr val="black"/>
              <a:schemeClr val="accent5">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20882" b="16632"/>
          <a:stretch/>
        </p:blipFill>
        <p:spPr>
          <a:xfrm>
            <a:off x="0" y="0"/>
            <a:ext cx="9144000" cy="6858000"/>
          </a:xfrm>
          <a:prstGeom prst="rect">
            <a:avLst/>
          </a:prstGeom>
          <a:noFill/>
        </p:spPr>
      </p:pic>
      <p:sp>
        <p:nvSpPr>
          <p:cNvPr id="13" name="Rounded Rectangle 12">
            <a:extLst>
              <a:ext uri="{FF2B5EF4-FFF2-40B4-BE49-F238E27FC236}">
                <a16:creationId xmlns:a16="http://schemas.microsoft.com/office/drawing/2014/main" id="{D0F52BC9-D8B6-3C1D-AC7C-89B575E35A9C}"/>
              </a:ext>
            </a:extLst>
          </p:cNvPr>
          <p:cNvSpPr/>
          <p:nvPr/>
        </p:nvSpPr>
        <p:spPr>
          <a:xfrm>
            <a:off x="76200" y="139898"/>
            <a:ext cx="8928652" cy="1582327"/>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Google Shape;77;p16">
            <a:extLst>
              <a:ext uri="{FF2B5EF4-FFF2-40B4-BE49-F238E27FC236}">
                <a16:creationId xmlns:a16="http://schemas.microsoft.com/office/drawing/2014/main" id="{7531300C-AFC8-10FB-423C-ABE976816DC8}"/>
              </a:ext>
            </a:extLst>
          </p:cNvPr>
          <p:cNvSpPr txBox="1">
            <a:spLocks noGrp="1"/>
          </p:cNvSpPr>
          <p:nvPr>
            <p:ph type="title"/>
          </p:nvPr>
        </p:nvSpPr>
        <p:spPr>
          <a:xfrm>
            <a:off x="381000" y="1025354"/>
            <a:ext cx="8763000" cy="1482300"/>
          </a:xfrm>
          <a:prstGeom prst="rect">
            <a:avLst/>
          </a:prstGeom>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100"/>
              <a:buFont typeface="Arial"/>
              <a:buNone/>
            </a:pPr>
            <a:r>
              <a:rPr lang="en" sz="4800" b="1" dirty="0">
                <a:latin typeface="Avenir"/>
                <a:ea typeface="Avenir"/>
                <a:cs typeface="Avenir"/>
                <a:sym typeface="Avenir"/>
              </a:rPr>
              <a:t>…And now for something completely different</a:t>
            </a:r>
            <a:br>
              <a:rPr lang="en" sz="4800" b="1" dirty="0">
                <a:latin typeface="Avenir"/>
                <a:ea typeface="Avenir"/>
                <a:cs typeface="Avenir"/>
                <a:sym typeface="Avenir"/>
              </a:rPr>
            </a:br>
            <a:endParaRPr sz="4800" b="1" dirty="0">
              <a:latin typeface="Avenir"/>
              <a:ea typeface="Avenir"/>
              <a:cs typeface="Avenir"/>
              <a:sym typeface="Avenir"/>
            </a:endParaRPr>
          </a:p>
        </p:txBody>
      </p:sp>
      <p:sp>
        <p:nvSpPr>
          <p:cNvPr id="4" name="Rounded Rectangle 3">
            <a:extLst>
              <a:ext uri="{FF2B5EF4-FFF2-40B4-BE49-F238E27FC236}">
                <a16:creationId xmlns:a16="http://schemas.microsoft.com/office/drawing/2014/main" id="{C1DBCE93-5760-693E-F4DC-7ABCC2FC3539}"/>
              </a:ext>
            </a:extLst>
          </p:cNvPr>
          <p:cNvSpPr/>
          <p:nvPr/>
        </p:nvSpPr>
        <p:spPr>
          <a:xfrm>
            <a:off x="107674" y="5107701"/>
            <a:ext cx="8928652" cy="1582327"/>
          </a:xfrm>
          <a:prstGeom prst="roundRect">
            <a:avLst/>
          </a:prstGeom>
          <a:solidFill>
            <a:schemeClr val="bg1">
              <a:alpha val="5191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Google Shape;77;p16">
            <a:extLst>
              <a:ext uri="{FF2B5EF4-FFF2-40B4-BE49-F238E27FC236}">
                <a16:creationId xmlns:a16="http://schemas.microsoft.com/office/drawing/2014/main" id="{2E244B97-8E9E-D591-18C4-6A5F46A923E8}"/>
              </a:ext>
            </a:extLst>
          </p:cNvPr>
          <p:cNvSpPr txBox="1">
            <a:spLocks/>
          </p:cNvSpPr>
          <p:nvPr/>
        </p:nvSpPr>
        <p:spPr bwMode="auto">
          <a:xfrm>
            <a:off x="357015" y="5676042"/>
            <a:ext cx="8763000" cy="1482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spcFirstLastPara="1" vert="horz" wrap="square" lIns="91425" tIns="91425" rIns="91425" bIns="91425" numCol="1" anchor="b" anchorCtr="0" compatLnSpc="1">
            <a:prstTxWarp prst="textNoShape">
              <a:avLst/>
            </a:prstTxWarp>
            <a:noAutofit/>
          </a:bodyPr>
          <a:lstStyle>
            <a:lvl1pPr algn="ctr"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a:lstStyle>
          <a:p>
            <a:pPr algn="l">
              <a:spcBef>
                <a:spcPts val="0"/>
              </a:spcBef>
              <a:spcAft>
                <a:spcPts val="0"/>
              </a:spcAft>
              <a:buClr>
                <a:srgbClr val="000000"/>
              </a:buClr>
              <a:buSzPts val="1100"/>
              <a:buFont typeface="Arial"/>
              <a:buNone/>
            </a:pPr>
            <a:r>
              <a:rPr lang="en-US" sz="4800" b="1" dirty="0">
                <a:latin typeface="Avenir"/>
                <a:ea typeface="Avenir"/>
                <a:cs typeface="Avenir"/>
                <a:sym typeface="Avenir"/>
              </a:rPr>
              <a:t>KKF’s GW AI Expense Coach</a:t>
            </a:r>
            <a:br>
              <a:rPr lang="en-US" sz="4800" b="1" dirty="0">
                <a:latin typeface="Avenir"/>
                <a:ea typeface="Avenir"/>
                <a:cs typeface="Avenir"/>
                <a:sym typeface="Avenir"/>
              </a:rPr>
            </a:br>
            <a:endParaRPr lang="en-US" sz="4800" b="1" dirty="0">
              <a:latin typeface="Avenir"/>
              <a:ea typeface="Avenir"/>
              <a:cs typeface="Avenir"/>
              <a:sym typeface="Avenir"/>
            </a:endParaRPr>
          </a:p>
        </p:txBody>
      </p:sp>
      <p:pic>
        <p:nvPicPr>
          <p:cNvPr id="8" name="Picture 7" descr="A qr code on a white background&#10;&#10;AI-generated content may be incorrect.">
            <a:extLst>
              <a:ext uri="{FF2B5EF4-FFF2-40B4-BE49-F238E27FC236}">
                <a16:creationId xmlns:a16="http://schemas.microsoft.com/office/drawing/2014/main" id="{A8626151-0EA7-E556-E9C7-F575D64611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28950" y="1771650"/>
            <a:ext cx="3086100" cy="3314700"/>
          </a:xfrm>
          <a:prstGeom prst="rect">
            <a:avLst/>
          </a:prstGeom>
        </p:spPr>
      </p:pic>
    </p:spTree>
    <p:extLst>
      <p:ext uri="{BB962C8B-B14F-4D97-AF65-F5344CB8AC3E}">
        <p14:creationId xmlns:p14="http://schemas.microsoft.com/office/powerpoint/2010/main" val="390806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4.04_Template2_BossAcad_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2014.04_Template2_BossAcad_2.pot</Template>
  <TotalTime>46890</TotalTime>
  <Words>1158</Words>
  <Application>Microsoft Macintosh PowerPoint</Application>
  <PresentationFormat>On-screen Show (4:3)</PresentationFormat>
  <Paragraphs>183</Paragraphs>
  <Slides>29</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Arial</vt:lpstr>
      <vt:lpstr>Avenir</vt:lpstr>
      <vt:lpstr>Avenir Black</vt:lpstr>
      <vt:lpstr>Avenir Book</vt:lpstr>
      <vt:lpstr>Avenir Heavy</vt:lpstr>
      <vt:lpstr>Calibri</vt:lpstr>
      <vt:lpstr>Courier New</vt:lpstr>
      <vt:lpstr>2014.04_Template2_BossAcad_2</vt:lpstr>
      <vt:lpstr>Custom Design</vt:lpstr>
      <vt:lpstr>PowerPoint Presentation</vt:lpstr>
      <vt:lpstr>PowerPoint Presentation</vt:lpstr>
      <vt:lpstr>INSIDE THE BOARD ROOM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WHO WANTS TO BE CEO?</vt:lpstr>
      <vt:lpstr>PowerPoint Presentation</vt:lpstr>
      <vt:lpstr>YOUR PERSONAL BOA: BUILD IT</vt:lpstr>
      <vt:lpstr>It takes just as much time and effort to dream small as to dream big, so you might as well DREAM BIG!  ~ Rosabeth Moss Kanter</vt:lpstr>
      <vt:lpstr>I. “DREAM BIG” Career Goal  II &amp; III: CONTEXT and BOA Formation  IV &amp; V: (more) CONTEXT and BOA Revision  Game Time: Call the Meeting To Order</vt:lpstr>
      <vt:lpstr>I. DREAM BIG CAREER GOAL</vt:lpstr>
      <vt:lpstr>II. CONTEXT ROUND 1</vt:lpstr>
      <vt:lpstr>III. BOA ROUND 1</vt:lpstr>
      <vt:lpstr>IV. CONTEXT ROUND 2</vt:lpstr>
      <vt:lpstr>V. BOA ROUND 2</vt:lpstr>
      <vt:lpstr>GAME TIME: CALL THE MEETING TO ORDER</vt:lpstr>
      <vt:lpstr>AI BOA: HOW DID IT GO?</vt:lpstr>
      <vt:lpstr>RESULTS: Professional Satisfaction + Claude Highest Marks</vt:lpstr>
      <vt:lpstr>RESULTS: Sample Board 1</vt:lpstr>
      <vt:lpstr>Sample Board 1</vt:lpstr>
      <vt:lpstr>RESULTS: Sample Board 2</vt:lpstr>
      <vt:lpstr>Sample Board 2</vt:lpstr>
      <vt:lpstr>RESULTS</vt:lpstr>
      <vt:lpstr>…And now for something completely different </vt:lpstr>
    </vt:vector>
  </TitlesOfParts>
  <Company>NFIB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Bryant, Kerri</dc:creator>
  <cp:lastModifiedBy>Frey, Katherine Korman</cp:lastModifiedBy>
  <cp:revision>581</cp:revision>
  <dcterms:created xsi:type="dcterms:W3CDTF">2012-02-13T17:36:49Z</dcterms:created>
  <dcterms:modified xsi:type="dcterms:W3CDTF">2026-09-26T23:26:51Z</dcterms:modified>
</cp:coreProperties>
</file>